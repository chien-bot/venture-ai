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s.apple.com/cn/app/id674382842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Qifang24/CareA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603504"/>
            <a:ext cx="2240280" cy="310896"/>
          </a:xfrm>
          <a:prstGeom prst="roundRect">
            <a:avLst/>
          </a:prstGeom>
          <a:solidFill>
            <a:srgbClr val="26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12648"/>
            <a:ext cx="22402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FFFF"/>
                </a:solidFill>
                <a:latin typeface="PingFang SC"/>
              </a:rPr>
              <a:t>CAREAI · FINAL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502920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CareAI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12264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0FFFF"/>
                </a:solidFill>
                <a:latin typeface="PingFang SC"/>
              </a:rPr>
              <a:t>可解释的健康行动助手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525780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8C0CC"/>
                </a:solidFill>
                <a:latin typeface="PingFang SC"/>
              </a:rPr>
              <a:t>从一次健康报告，升级为“理解—行动—复盘—隐私—安全”的完整闭环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5102352" cy="1207008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370832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0FFFF"/>
                </a:solidFill>
                <a:latin typeface="PingFang SC"/>
              </a:rPr>
              <a:t>本次展示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727448"/>
            <a:ext cx="45354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PingFang SC"/>
              </a:rPr>
              <a:t>真实产品截图 · 24 项后端测试 · 12 项安全回归 · 浏览器零报错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694944"/>
            <a:ext cx="5239512" cy="5431536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reai-home-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98864"/>
            <a:ext cx="5166360" cy="44236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项目成果与测试证据 · Tech 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从“看见数字”到“知道下一步怎么做”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目标用户：愿意自主记录基础健康数据的成年学生与初入职场人群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72768"/>
            <a:ext cx="3401568" cy="144475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1773936"/>
            <a:ext cx="73152" cy="384048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1755648"/>
            <a:ext cx="277977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真实场景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286000"/>
            <a:ext cx="294436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B8C0CC"/>
                </a:solidFill>
                <a:latin typeface="PingFang SC"/>
              </a:rPr>
              <a:t>睡眠、运动、体重与基础检查数值分散；用户能看到数字，却难以解释并持续行动。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18688"/>
            <a:ext cx="3401568" cy="144475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3419856"/>
            <a:ext cx="73152" cy="384048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401568"/>
            <a:ext cx="277977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核心问题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31920"/>
            <a:ext cx="294436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B8C0CC"/>
                </a:solidFill>
                <a:latin typeface="PingFang SC"/>
              </a:rPr>
              <a:t>通用搜索与对话工具可快速给建议，但判断依据、责任边界与连续复盘通常不够透明。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64608"/>
            <a:ext cx="3401568" cy="117043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" y="5065776"/>
            <a:ext cx="73152" cy="384048"/>
          </a:xfrm>
          <a:prstGeom prst="rect">
            <a:avLst/>
          </a:prstGeom>
          <a:solidFill>
            <a:srgbClr val="38E6A1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047488"/>
            <a:ext cx="277977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社会价值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577840"/>
            <a:ext cx="29443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B8C0CC"/>
                </a:solidFill>
                <a:latin typeface="PingFang SC"/>
              </a:rPr>
              <a:t>在低风险健康教育场景中，提高理解与自我管理能力；持续提醒何时需要复测或线下求助。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1536192"/>
            <a:ext cx="2157984" cy="4535424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reai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446" y="1572768"/>
            <a:ext cx="775874" cy="4462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2280" y="1664208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FFFF"/>
                </a:solidFill>
                <a:latin typeface="PingFang SC"/>
              </a:rPr>
              <a:t>产品迭代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21424" y="2121408"/>
            <a:ext cx="987552" cy="310896"/>
          </a:xfrm>
          <a:prstGeom prst="roundRect">
            <a:avLst/>
          </a:prstGeom>
          <a:solidFill>
            <a:srgbClr val="272D36"/>
          </a:solidFill>
          <a:ln w="10160">
            <a:solidFill>
              <a:srgbClr val="B8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130551"/>
            <a:ext cx="9875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B8C0CC"/>
                </a:solidFill>
                <a:latin typeface="PingFang SC"/>
              </a:rPr>
              <a:t>V1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2103120"/>
            <a:ext cx="3401568" cy="694944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B8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267712"/>
            <a:ext cx="2971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一次录入 → 一份报告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3176" y="2871215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21424" y="3291839"/>
            <a:ext cx="987552" cy="310896"/>
          </a:xfrm>
          <a:prstGeom prst="roundRect">
            <a:avLst/>
          </a:prstGeom>
          <a:solidFill>
            <a:srgbClr val="272D36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1424" y="3300983"/>
            <a:ext cx="9875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66FF"/>
                </a:solidFill>
                <a:latin typeface="PingFang SC"/>
              </a:rPr>
              <a:t>V2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3273551"/>
            <a:ext cx="3401568" cy="694944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438144"/>
            <a:ext cx="2971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健康 Memory → 趋势与复盘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041648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21424" y="4462272"/>
            <a:ext cx="987552" cy="310896"/>
          </a:xfrm>
          <a:prstGeom prst="roundRect">
            <a:avLst/>
          </a:prstGeom>
          <a:solidFill>
            <a:srgbClr val="272D36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1424" y="4471416"/>
            <a:ext cx="9875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38E6A1"/>
                </a:solidFill>
                <a:latin typeface="PingFang SC"/>
              </a:rPr>
              <a:t>FINAL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0144" y="4443984"/>
            <a:ext cx="3401568" cy="694944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608576"/>
            <a:ext cx="2971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理解确认 → 单变量实验 → 隐私与安全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21424" y="5669280"/>
            <a:ext cx="4590288" cy="384048"/>
          </a:xfrm>
          <a:prstGeom prst="roundRect">
            <a:avLst/>
          </a:prstGeom>
          <a:solidFill>
            <a:srgbClr val="26313A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4" y="5760720"/>
            <a:ext cx="43159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60" b="1">
                <a:solidFill>
                  <a:srgbClr val="FFB347"/>
                </a:solidFill>
                <a:latin typeface="PingFang SC"/>
              </a:rPr>
              <a:t>明确不做：诊断、治疗、处方、药物剂量和急症处理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最终方案：规则负责判断，AI只负责受限表达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每一步都能回到输入、规则、来源、理解状态与行动记录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72768"/>
            <a:ext cx="1078992" cy="199339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764792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FFFF"/>
                </a:solidFill>
                <a:latin typeface="DejaVu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194560"/>
            <a:ext cx="786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97480"/>
            <a:ext cx="7863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B8C0CC"/>
                </a:solidFill>
                <a:latin typeface="PingFang SC"/>
              </a:rPr>
              <a:t>基础指标
报告文字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2432304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5376" y="1572768"/>
            <a:ext cx="1078992" cy="199339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02536" y="1764792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FFFF"/>
                </a:solidFill>
                <a:latin typeface="DejaVu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2536" y="2194560"/>
            <a:ext cx="786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2536" y="2697480"/>
            <a:ext cx="7863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B8C0CC"/>
                </a:solidFill>
                <a:latin typeface="PingFang SC"/>
              </a:rPr>
              <a:t>确定风险等级
生成来源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432304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63824" y="1572768"/>
            <a:ext cx="1078992" cy="199339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0984" y="1764792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FFFF"/>
                </a:solidFill>
                <a:latin typeface="DejaVu Sa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0984" y="2194560"/>
            <a:ext cx="786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解释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2697480"/>
            <a:ext cx="7863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B8C0CC"/>
                </a:solidFill>
                <a:latin typeface="PingFang SC"/>
              </a:rPr>
              <a:t>本地或受限AI
不新增风险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2432304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1572768"/>
            <a:ext cx="1078992" cy="199339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1764792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FFFF"/>
                </a:solidFill>
                <a:latin typeface="DejaVu Sa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2194560"/>
            <a:ext cx="786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确认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2697480"/>
            <a:ext cx="7863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B8C0CC"/>
                </a:solidFill>
                <a:latin typeface="PingFang SC"/>
              </a:rPr>
              <a:t>三题teach-back
通过后行动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432304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  <a:latin typeface="PingFang S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1572768"/>
            <a:ext cx="1078992" cy="1993392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1764792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FFFF"/>
                </a:solidFill>
                <a:latin typeface="DejaVu San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2194560"/>
            <a:ext cx="78638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697480"/>
            <a:ext cx="7863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B8C0CC"/>
                </a:solidFill>
                <a:latin typeface="PingFang SC"/>
              </a:rPr>
              <a:t>只改变一个变量
一周后复盘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78624" y="1536192"/>
            <a:ext cx="4297680" cy="3639312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report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51114"/>
            <a:ext cx="4224528" cy="320946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566928" y="3977639"/>
            <a:ext cx="6181344" cy="1143000"/>
          </a:xfrm>
          <a:prstGeom prst="roundRect">
            <a:avLst/>
          </a:prstGeom>
          <a:solidFill>
            <a:srgbClr val="333333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242816"/>
            <a:ext cx="9326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FFFF"/>
                </a:solidFill>
                <a:latin typeface="PingFang SC"/>
              </a:rPr>
              <a:t>关键分层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65376" y="4160520"/>
            <a:ext cx="4572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本地规则固定 risk level；AI不能新增类别。AI关闭时，完整报告仍由本地规则生成。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30952"/>
            <a:ext cx="10972800" cy="612648"/>
          </a:xfrm>
          <a:prstGeom prst="roundRect">
            <a:avLst/>
          </a:prstGeom>
          <a:solidFill>
            <a:srgbClr val="26313A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1383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结果：用户不仅得到建议，还能知道“为什么、由谁生成、哪里不确定、下一步如何验证”。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为什么用户可能选择 CareAI，而不是只使用综合健康平台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阿福的生态与服务覆盖更广；CareAI选择更窄、更透明、更适合验证的健康教育体验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36192"/>
            <a:ext cx="2084831" cy="457200"/>
          </a:xfrm>
          <a:prstGeom prst="roundRect">
            <a:avLst/>
          </a:prstGeom>
          <a:solidFill>
            <a:srgbClr val="333333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664208"/>
            <a:ext cx="182879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B8C0CC"/>
                </a:solidFill>
                <a:latin typeface="PingFang SC"/>
              </a:rPr>
              <a:t>维度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536192"/>
            <a:ext cx="3950208" cy="457200"/>
          </a:xfrm>
          <a:prstGeom prst="roundRect">
            <a:avLst/>
          </a:prstGeom>
          <a:solidFill>
            <a:srgbClr val="333333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1664208"/>
            <a:ext cx="369417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0FFFF"/>
                </a:solidFill>
                <a:latin typeface="PingFang SC"/>
              </a:rPr>
              <a:t>CareAI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536192"/>
            <a:ext cx="4544568" cy="457200"/>
          </a:xfrm>
          <a:prstGeom prst="roundRect">
            <a:avLst/>
          </a:prstGeom>
          <a:solidFill>
            <a:srgbClr val="333333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1664208"/>
            <a:ext cx="428853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8E6A1"/>
                </a:solidFill>
                <a:latin typeface="PingFang SC"/>
              </a:rPr>
              <a:t>蚂蚁阿福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084831"/>
            <a:ext cx="2084831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157984"/>
            <a:ext cx="1865376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B8C0CC"/>
                </a:solidFill>
                <a:latin typeface="PingFang SC"/>
              </a:rPr>
              <a:t>产品重点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84831"/>
            <a:ext cx="395020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2157984"/>
            <a:ext cx="37307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理解依据 + 低负担行动实验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084831"/>
            <a:ext cx="454456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2157984"/>
            <a:ext cx="43251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健康咨询 + 报告解读 + 健康档案 + 医疗服务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24911"/>
            <a:ext cx="2084831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798063"/>
            <a:ext cx="1865376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B8C0CC"/>
                </a:solidFill>
                <a:latin typeface="PingFang SC"/>
              </a:rPr>
              <a:t>判断机制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724911"/>
            <a:ext cx="3950208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2798063"/>
            <a:ext cx="37307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本地规则固定结论；生成层受限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724911"/>
            <a:ext cx="4544568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2798063"/>
            <a:ext cx="43251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综合 AI 健康助手与服务生态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364991"/>
            <a:ext cx="2084831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438144"/>
            <a:ext cx="1865376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B8C0CC"/>
                </a:solidFill>
                <a:latin typeface="PingFang SC"/>
              </a:rPr>
              <a:t>可解释性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364991"/>
            <a:ext cx="395020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3438144"/>
            <a:ext cx="37307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输入字段、规则版本、来源与不确定性可查看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3364991"/>
            <a:ext cx="454456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04888" y="3438144"/>
            <a:ext cx="43251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公开产品页强调综合能力与个性化服务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005071"/>
            <a:ext cx="2084831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078223"/>
            <a:ext cx="1865376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B8C0CC"/>
                </a:solidFill>
                <a:latin typeface="PingFang SC"/>
              </a:rPr>
              <a:t>用户控制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005071"/>
            <a:ext cx="3950208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4078223"/>
            <a:ext cx="37307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AI、保存、期限、导出、删除均可切换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4005071"/>
            <a:ext cx="4544568" cy="548640"/>
          </a:xfrm>
          <a:prstGeom prst="rect">
            <a:avLst/>
          </a:prstGeom>
          <a:solidFill>
            <a:srgbClr val="242424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4078223"/>
            <a:ext cx="43251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以官方产品实际隐私设置与政策为准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645152"/>
            <a:ext cx="2084831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4718304"/>
            <a:ext cx="1865376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30" b="1">
                <a:solidFill>
                  <a:srgbClr val="B8C0CC"/>
                </a:solidFill>
                <a:latin typeface="PingFang SC"/>
              </a:rPr>
              <a:t>当前阶段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645152"/>
            <a:ext cx="395020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44368" y="4718304"/>
            <a:ext cx="37307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课堂原型；代码与测试可核验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95160" y="4645152"/>
            <a:ext cx="4544568" cy="548640"/>
          </a:xfrm>
          <a:prstGeom prst="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04888" y="4718304"/>
            <a:ext cx="43251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PingFang SC"/>
              </a:rPr>
              <a:t>成熟商业应用；规模与服务连接更强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513832"/>
            <a:ext cx="10972800" cy="475488"/>
          </a:xfrm>
          <a:prstGeom prst="roundRect">
            <a:avLst/>
          </a:prstGeom>
          <a:solidFill>
            <a:srgbClr val="26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" y="5632704"/>
            <a:ext cx="105887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PingFang SC"/>
              </a:rPr>
              <a:t>选择逻辑：需要综合服务生态 → 阿福；需要可复核的规则、学习式理解和单变量自我实验 → CareAI。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" y="6163056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u="sng">
                <a:solidFill>
                  <a:srgbClr val="B8C0CC"/>
                </a:solidFill>
                <a:latin typeface="PingFang SC"/>
                <a:hlinkClick r:id="rId2"/>
              </a:rPr>
              <a:t>阿福能力来源：App Store 官方产品页（核对：2026-09-16）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6144768"/>
            <a:ext cx="4297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80" b="0">
                <a:solidFill>
                  <a:srgbClr val="FFB347"/>
                </a:solidFill>
                <a:latin typeface="PingFang SC"/>
              </a:rPr>
              <a:t>注：本页是定位比较，不代表已完成同条件真人体验测试。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创新一：建议必须能解释，行动必须先理解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证据卡负责“为什么”；三题理解确认负责“用户是否真的看懂”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517904"/>
            <a:ext cx="5449824" cy="4233672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vidence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67" y="1554480"/>
            <a:ext cx="4943192" cy="41605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35624" y="1517904"/>
            <a:ext cx="5440680" cy="4233672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reh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33099"/>
            <a:ext cx="5367528" cy="40032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86384" y="1764792"/>
            <a:ext cx="960120" cy="310896"/>
          </a:xfrm>
          <a:prstGeom prst="roundRect">
            <a:avLst/>
          </a:prstGeom>
          <a:solidFill>
            <a:srgbClr val="24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773936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FFFF"/>
                </a:solidFill>
                <a:latin typeface="PingFang SC"/>
              </a:rPr>
              <a:t>证据卡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6" y="1764792"/>
            <a:ext cx="1143000" cy="310896"/>
          </a:xfrm>
          <a:prstGeom prst="roundRect">
            <a:avLst/>
          </a:prstGeom>
          <a:solidFill>
            <a:srgbClr val="26352F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773936"/>
            <a:ext cx="11430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38E6A1"/>
                </a:solidFill>
                <a:latin typeface="PingFang SC"/>
              </a:rPr>
              <a:t>理解确认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870448"/>
            <a:ext cx="499262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B8C0CC"/>
                </a:solidFill>
                <a:latin typeface="PingFang SC"/>
              </a:rPr>
              <a:t>输入字段 · 规则版本 · 生成来源 · 不确定性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5870448"/>
            <a:ext cx="499262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B8C0CC"/>
                </a:solidFill>
                <a:latin typeface="PingFang SC"/>
              </a:rPr>
              <a:t>含义 · 安全边界 · 下一步；通过后才解锁行动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创新二：隐私不是声明，而是用户可以操作的控制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关闭 AI、停止保存、设置期限、导出和删除，都会改变后端真实行为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517904"/>
            <a:ext cx="6793992" cy="4480560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eai-privacy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199" y="1554480"/>
            <a:ext cx="5168296" cy="440740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16368" y="1517904"/>
            <a:ext cx="4059936" cy="4480560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ivate-s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2420950"/>
            <a:ext cx="3986784" cy="267446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" y="6126480"/>
            <a:ext cx="822960" cy="310896"/>
          </a:xfrm>
          <a:prstGeom prst="roundRect">
            <a:avLst/>
          </a:prstGeom>
          <a:solidFill>
            <a:srgbClr val="28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135624"/>
            <a:ext cx="8229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00FFFF"/>
                </a:solidFill>
                <a:latin typeface="PingFang SC"/>
              </a:rPr>
              <a:t>AI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108192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B8C0CC"/>
                </a:solidFill>
                <a:latin typeface="PingFang SC"/>
              </a:rPr>
              <a:t>仅运行本地规则，不向外部模型发送关注项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6126480"/>
            <a:ext cx="822960" cy="310896"/>
          </a:xfrm>
          <a:prstGeom prst="roundRect">
            <a:avLst/>
          </a:prstGeom>
          <a:solidFill>
            <a:srgbClr val="28313A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6135624"/>
            <a:ext cx="8229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FFB347"/>
                </a:solidFill>
                <a:latin typeface="PingFang SC"/>
              </a:rPr>
              <a:t>SAVE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6108192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B8C0CC"/>
                </a:solidFill>
                <a:latin typeface="PingFang SC"/>
              </a:rPr>
              <a:t>报告与所有计划写入接口停止保存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6126480"/>
            <a:ext cx="822960" cy="310896"/>
          </a:xfrm>
          <a:prstGeom prst="roundRect">
            <a:avLst/>
          </a:prstGeom>
          <a:solidFill>
            <a:srgbClr val="28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6135624"/>
            <a:ext cx="8229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00FFFF"/>
                </a:solidFill>
                <a:latin typeface="PingFang SC"/>
              </a:rPr>
              <a:t>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6108192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B8C0CC"/>
                </a:solidFill>
                <a:latin typeface="PingFang SC"/>
              </a:rPr>
              <a:t>不保存时仍在当前页面完成理解确认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6126480"/>
            <a:ext cx="822960" cy="310896"/>
          </a:xfrm>
          <a:prstGeom prst="roundRect">
            <a:avLst/>
          </a:prstGeom>
          <a:solidFill>
            <a:srgbClr val="28313A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6135624"/>
            <a:ext cx="8229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19" b="1">
                <a:solidFill>
                  <a:srgbClr val="00FFFF"/>
                </a:solidFill>
                <a:latin typeface="PingFang SC"/>
              </a:rP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6108192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B8C0CC"/>
                </a:solidFill>
                <a:latin typeface="PingFang SC"/>
              </a:rPr>
              <a:t>JSON / 打印PDF / FHIR结构演示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创新三：每周只改变一个变量，让复盘更像实验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提醒时间、行动时长、行动频率、任务难度四选一；后端对前后 snapshot 做确定性差异校验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517904"/>
            <a:ext cx="7040880" cy="4572000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ngle-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4714"/>
            <a:ext cx="6967728" cy="409837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845552" y="1591056"/>
            <a:ext cx="3694176" cy="100584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764792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0FFFF"/>
                </a:solidFill>
                <a:latin typeface="DejaVu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755648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每轮变量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2140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B8C0CC"/>
                </a:solidFill>
                <a:latin typeface="PingFang SC"/>
              </a:rPr>
              <a:t>只能改变一个配置键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2807208"/>
            <a:ext cx="3694176" cy="100584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980944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0066FF"/>
                </a:solidFill>
                <a:latin typeface="DejaVu San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971800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行动天数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337560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B8C0CC"/>
                </a:solidFill>
                <a:latin typeface="PingFang SC"/>
              </a:rPr>
              <a:t>固定生成七天结构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4023360"/>
            <a:ext cx="3694176" cy="100584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197096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38E6A1"/>
                </a:solidFill>
                <a:latin typeface="DejaVu Sans"/>
              </a:rPr>
              <a:t>vN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187952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版本链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553712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0">
                <a:solidFill>
                  <a:srgbClr val="B8C0CC"/>
                </a:solidFill>
                <a:latin typeface="PingFang SC"/>
              </a:rPr>
              <a:t>保存 previous_draft_id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5404104"/>
            <a:ext cx="3694176" cy="649224"/>
          </a:xfrm>
          <a:prstGeom prst="roundRect">
            <a:avLst/>
          </a:prstGeom>
          <a:solidFill>
            <a:srgbClr val="26313A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5550408"/>
            <a:ext cx="3246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价值：减少“一次改很多、最后不知道什么有效”的复盘偏差。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验证结果：功能能运行，边界也能被重复检查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自动化测试、真实浏览器流程和固定安全用例共同组成验收证据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499616"/>
            <a:ext cx="6217920" cy="4626864"/>
          </a:xfrm>
          <a:prstGeom prst="roundRect">
            <a:avLst/>
          </a:prstGeom>
          <a:solidFill>
            <a:srgbClr val="151515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eai-safety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24" y="1536192"/>
            <a:ext cx="4037774" cy="45537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022592" y="1554480"/>
            <a:ext cx="2011680" cy="182880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59" y="1755648"/>
            <a:ext cx="73152" cy="384048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737360"/>
            <a:ext cx="138988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后端自动化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249424"/>
            <a:ext cx="15544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00FFFF"/>
                </a:solidFill>
                <a:latin typeface="DejaVu Sans"/>
              </a:rPr>
              <a:t>24/24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926080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0CC"/>
                </a:solidFill>
                <a:latin typeface="PingFang SC"/>
              </a:rPr>
              <a:t>覆盖隐私、本地模式、来源、理解门控、导出、单变量差异与安全套件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554480"/>
            <a:ext cx="2304288" cy="182880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1755648"/>
            <a:ext cx="73152" cy="384048"/>
          </a:xfrm>
          <a:prstGeom prst="rect">
            <a:avLst/>
          </a:prstGeom>
          <a:solidFill>
            <a:srgbClr val="38E6A1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6064" y="1737360"/>
            <a:ext cx="1682495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安全实验室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249424"/>
            <a:ext cx="184708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38E6A1"/>
                </a:solidFill>
                <a:latin typeface="DejaVu Sans"/>
              </a:rPr>
              <a:t>12/12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926080"/>
            <a:ext cx="18470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0CC"/>
                </a:solidFill>
                <a:latin typeface="PingFang SC"/>
              </a:rPr>
              <a:t>中英文疾病判断、药名、剂量、频次、停药与安全建议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2592" y="3621024"/>
            <a:ext cx="2011680" cy="182880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59" y="3822191"/>
            <a:ext cx="73152" cy="384048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3803904"/>
            <a:ext cx="138988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真实浏览器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4315968"/>
            <a:ext cx="15544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0066FF"/>
                </a:solidFill>
                <a:latin typeface="DejaVu San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499262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0CC"/>
                </a:solidFill>
                <a:latin typeface="PingFang SC"/>
              </a:rPr>
              <a:t>桌面 + 手机；8张真实页面截图；关键交互由 Playwright 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621024"/>
            <a:ext cx="2304288" cy="182880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36608" y="3822191"/>
            <a:ext cx="73152" cy="384048"/>
          </a:xfrm>
          <a:prstGeom prst="rect">
            <a:avLst/>
          </a:prstGeom>
          <a:solidFill>
            <a:srgbClr val="FFB347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4" y="3803904"/>
            <a:ext cx="1682495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控制台错误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315968"/>
            <a:ext cx="184708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FFB347"/>
                </a:solidFill>
                <a:latin typeface="DejaVu San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992624"/>
            <a:ext cx="184708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0CC"/>
                </a:solidFill>
                <a:latin typeface="PingFang SC"/>
              </a:rPr>
              <a:t>最终浏览器验收 browser-qa.json；前端生产 build 同时通过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705856"/>
            <a:ext cx="43616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>
                <a:solidFill>
                  <a:srgbClr val="00FFFF"/>
                </a:solidFill>
                <a:latin typeface="DejaVu Sans"/>
              </a:rPr>
              <a:t>命令证据：backend/.venv/bin/python -m pytest -q  →  24 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961888"/>
            <a:ext cx="43616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B347"/>
                </a:solidFill>
                <a:latin typeface="PingFang SC"/>
              </a:rPr>
              <a:t>边界：安全回归证明当前列出的代码检查可运行，不等于临床安全认证。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45720"/>
            <a:ext cx="18288" cy="6309360"/>
          </a:xfrm>
          <a:prstGeom prst="rect">
            <a:avLst/>
          </a:prstGeom>
          <a:solidFill>
            <a:srgbClr val="2B4D80"/>
          </a:solidFill>
          <a:ln w="10160">
            <a:solidFill>
              <a:srgbClr val="2B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329184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13464" y="384048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68328" y="438912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3192" y="493776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78056" y="548640"/>
            <a:ext cx="27432" cy="27432"/>
          </a:xfrm>
          <a:prstGeom prst="rect">
            <a:avLst/>
          </a:prstGeom>
          <a:solidFill>
            <a:srgbClr val="00FFFF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"/>
            <a:ext cx="5852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FFFF"/>
                </a:solidFill>
                <a:latin typeface="DejaVu Sans"/>
              </a:rPr>
              <a:t>CAREAI · PROJECT &amp;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"/>
            <a:ext cx="10881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SC"/>
              </a:rPr>
              <a:t>当前结论与下一步：先验证理解和可用性，再讨论扩大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088136"/>
            <a:ext cx="10789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>
                <a:solidFill>
                  <a:srgbClr val="B8C0CC"/>
                </a:solidFill>
                <a:latin typeface="PingFang SC"/>
              </a:rPr>
              <a:t>代码与测试已经形成证据；用户采用、健康效果与商业价值仍是待验证假设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>
                <a:solidFill>
                  <a:srgbClr val="B8C0CC"/>
                </a:solidFill>
                <a:latin typeface="PingFang SC"/>
              </a:rPr>
              <a:t>CareAI 本地代码与验收证据 · 2026-09-16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473952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FFFF"/>
                </a:solidFill>
                <a:latin typeface="DejaVu Sans"/>
              </a:rPr>
              <a:t>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72768"/>
            <a:ext cx="2523744" cy="246888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38E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828800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8E6A1"/>
                </a:solidFill>
                <a:latin typeface="PingFang SC"/>
              </a:rPr>
              <a:t>F · 已验证事实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78024"/>
            <a:ext cx="2066543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24项后端测试通过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前端生产构建通过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8张浏览器证据，控制台0错误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1572768"/>
            <a:ext cx="2523744" cy="246888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828800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FFFF"/>
                </a:solidFill>
                <a:latin typeface="PingFang SC"/>
              </a:rPr>
              <a:t>I · 合理推断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478024"/>
            <a:ext cx="2066543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可解释卡与理解确认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可能降低误解与行动门槛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需要真实任务继续检验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72768"/>
            <a:ext cx="2523744" cy="246888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PingFang SC"/>
              </a:rPr>
              <a:t>H · 待验证假设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066543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用户愿意持续记录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单变量实验能改善复盘质量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存在可持续使用或付费需求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572768"/>
            <a:ext cx="2523744" cy="2468880"/>
          </a:xfrm>
          <a:prstGeom prst="roundRect">
            <a:avLst/>
          </a:prstGeom>
          <a:solidFill>
            <a:srgbClr val="292929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828800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66FF"/>
                </a:solidFill>
                <a:latin typeface="PingFang SC"/>
              </a:rPr>
              <a:t>S · 系统证据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478024"/>
            <a:ext cx="2066543" cy="11887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AI与自动化测试输出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只证明系统流程和代码行为</a:t>
            </a:r>
          </a:p>
          <a:p>
            <a:pPr>
              <a:spcAft>
                <a:spcPts val="6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•  不能替代真人或临床证据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9120"/>
            <a:ext cx="10972800" cy="1234440"/>
          </a:xfrm>
          <a:prstGeom prst="roundRect">
            <a:avLst/>
          </a:prstGeom>
          <a:solidFill>
            <a:srgbClr val="333333"/>
          </a:solidFill>
          <a:ln w="10160">
            <a:solidFill>
              <a:srgbClr val="4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663440"/>
            <a:ext cx="124358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FFFF"/>
                </a:solidFill>
                <a:latin typeface="PingFang SC"/>
              </a:rPr>
              <a:t>下一步优先级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4572000"/>
            <a:ext cx="8961120" cy="7680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01  专业人员复核规则阈值与安全文案</a:t>
            </a:r>
          </a:p>
          <a:p>
            <a:pPr>
              <a:spcAft>
                <a:spcPts val="5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02  完成授权与隐私审查后，进行5–8名成年人的可用性与理解测试</a:t>
            </a:r>
          </a:p>
          <a:p>
            <a:pPr>
              <a:spcAft>
                <a:spcPts val="500"/>
              </a:spcAft>
              <a:defRPr sz="1150" b="0">
                <a:solidFill>
                  <a:srgbClr val="B8C0CC"/>
                </a:solidFill>
                <a:latin typeface="PingFang SC"/>
              </a:defRPr>
            </a:pPr>
            <a:r>
              <a:t>03  记录完成率、耗时、误解点与求助行为，再决定OCR、设备或服务接入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824728"/>
            <a:ext cx="10972800" cy="411480"/>
          </a:xfrm>
          <a:prstGeom prst="roundRect">
            <a:avLst/>
          </a:prstGeom>
          <a:solidFill>
            <a:srgbClr val="0066FF"/>
          </a:solidFill>
          <a:ln w="1016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916168"/>
            <a:ext cx="10497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70" b="1">
                <a:solidFill>
                  <a:srgbClr val="FFFFFF"/>
                </a:solidFill>
                <a:latin typeface="PingFang SC"/>
              </a:rPr>
              <a:t>CareAI 的优势不是“替用户看病”，而是让健康教育的依据、理解、行动和边界都能被检查。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318504"/>
            <a:ext cx="30632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80" b="0" u="sng">
                <a:solidFill>
                  <a:srgbClr val="B8C0CC"/>
                </a:solidFill>
                <a:latin typeface="PingFang SC"/>
                <a:hlinkClick r:id="rId2"/>
              </a:rPr>
              <a:t>证据目录：CareAI/docs/innovation-evidence/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6309360"/>
            <a:ext cx="4800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80" b="0">
                <a:solidFill>
                  <a:srgbClr val="B8C0CC"/>
                </a:solidFill>
                <a:latin typeface="PingFang SC"/>
              </a:rPr>
              <a:t>当前状态：可演示课堂原型；FHIR为结构演示，不代表临床互操作认证。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CareAI 项目成果与测试证据</dc:title>
  <dc:subject>CareAI 项目定位、差异化、产品截图与验收测试</dc:subject>
  <dc:creator>CareAI 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