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YaHei"/>
              </a:rPr>
              <a:t>CareAI × VentureAI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607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ABDCEE"/>
                </a:solidFill>
                <a:latin typeface="Microsoft YaHei"/>
              </a:rPr>
              <a:t>第一阶段：项目立项与 Agent V1 诊断基线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607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D2E0EC"/>
                </a:solidFill>
                <a:latin typeface="Microsoft YaHei"/>
              </a:rPr>
              <a:t>82 组｜2026-09-06｜约 5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Microsoft YaHei"/>
              </a:rPr>
              <a:t>CareAI 是本阶段创业项目；VentureAI 是冻结并被测试的教学 Agent V1。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09160"/>
            <a:ext cx="9966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CD88"/>
                </a:solidFill>
                <a:latin typeface="Microsoft YaHei"/>
              </a:rPr>
              <a:t>跨组测试、跨组互评与同伴评分已由课程要求取消。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96D4EB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项目定位、依据与边界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CBDCEB"/>
                </a:solidFill>
                <a:latin typeface="Microsoft YaHei"/>
              </a:rPr>
              <a:t>A 区：不把假设写成事实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3566160" cy="507492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73152" cy="5074920"/>
          </a:xfrm>
          <a:prstGeom prst="rect">
            <a:avLst/>
          </a:prstGeom>
          <a:solidFill>
            <a:srgbClr val="148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79576"/>
            <a:ext cx="3154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8889"/>
                </a:solidFill>
                <a:latin typeface="Microsoft YaHei"/>
              </a:rPr>
              <a:t>项目与用户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3154679" cy="4416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CareAI：面向成年人的非诊断性健康风险教育与习惯管理原型。
目标：愿意主动记录基础健康数据的成年人（H）。
不适用：未成年人、急重症、诊疗或用药决策。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51560"/>
            <a:ext cx="3566160" cy="507492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051560"/>
            <a:ext cx="73152" cy="5074920"/>
          </a:xfrm>
          <a:prstGeom prst="rect">
            <a:avLst/>
          </a:prstGeom>
          <a:solidFill>
            <a:srgbClr val="276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79576"/>
            <a:ext cx="3154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764A3"/>
                </a:solidFill>
                <a:latin typeface="Microsoft YaHei"/>
              </a:rPr>
              <a:t>公开依据（F）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581912"/>
            <a:ext cx="3154679" cy="4416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国家卫健委《健康中国行动》
WHO 身体活动建议
CDC 睡眠建议
个人信息保护法敏感信息要求
均为可定位的权威公开资料。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051560"/>
            <a:ext cx="3520440" cy="507492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051560"/>
            <a:ext cx="73152" cy="5074920"/>
          </a:xfrm>
          <a:prstGeom prst="rect">
            <a:avLst/>
          </a:prstGeom>
          <a:solidFill>
            <a:srgbClr val="D2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179576"/>
            <a:ext cx="3108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D2791F"/>
                </a:solidFill>
                <a:latin typeface="Microsoft YaHei"/>
              </a:rPr>
              <a:t>证据边界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581912"/>
            <a:ext cx="3108960" cy="4416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F：公开资料 / 代码事实
I：基于事实的解释
H：待验证假设
S：Agent 或情境模拟
本阶段未做问卷、访谈、试用、订单、临床或运营验证。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96D4EB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方案、创新与风险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CBDCEB"/>
                </a:solidFill>
                <a:latin typeface="Microsoft YaHei"/>
              </a:rPr>
              <a:t>B 区：规则优先，不作医疗诊断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12540"/>
                </a:solidFill>
                <a:latin typeface="Microsoft YaHei"/>
              </a:rPr>
              <a:t>健康数据录入  →  本地规则提示  →  受限 AI 解释与 7 天计划  →  历史趋势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74720" cy="338328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73152" cy="3383280"/>
          </a:xfrm>
          <a:prstGeom prst="rect">
            <a:avLst/>
          </a:prstGeom>
          <a:solidFill>
            <a:srgbClr val="148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56816"/>
            <a:ext cx="30632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8889"/>
                </a:solidFill>
                <a:latin typeface="Microsoft YaHei"/>
              </a:rPr>
              <a:t>创新机制（H）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3063239" cy="2724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1. 风险判断与生成解释分层
2. 指标—原因—建议—行动计划闭环
3. 非诊断边界在输入、报告和规则中可见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3474720" cy="338328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828800"/>
            <a:ext cx="73152" cy="3383280"/>
          </a:xfrm>
          <a:prstGeom prst="rect">
            <a:avLst/>
          </a:prstGeom>
          <a:solidFill>
            <a:srgbClr val="276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956816"/>
            <a:ext cx="30632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764A3"/>
                </a:solidFill>
                <a:latin typeface="Microsoft YaHei"/>
              </a:rPr>
              <a:t>替代做法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359152"/>
            <a:ext cx="3063239" cy="2724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自行看数据：指标零散
通用搜索 / 对话：边界与来源未必清晰
不用工具：难以持续记录
CareAI 仅提出机制差异，尚未宣称效果更好。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828800"/>
            <a:ext cx="3474720" cy="338328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828800"/>
            <a:ext cx="73152" cy="3383280"/>
          </a:xfrm>
          <a:prstGeom prst="rect">
            <a:avLst/>
          </a:prstGeom>
          <a:solidFill>
            <a:srgbClr val="B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956816"/>
            <a:ext cx="30632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F3838"/>
                </a:solidFill>
                <a:latin typeface="Microsoft YaHei"/>
              </a:rPr>
              <a:t>关键风险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359152"/>
            <a:ext cx="3063239" cy="2724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医疗安全：非诊断、需专业复核
数据合规：授权、最小化、删除和访问控制
技术：外部模型不可用
证据：无真实用户验证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96D4EB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V1 首测保留，V1.1 独立复测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CBDCEB"/>
                </a:solidFill>
                <a:latin typeface="Microsoft YaHei"/>
              </a:rPr>
              <a:t>C 区：不以修复版本覆盖首次失败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12540"/>
                </a:solidFill>
                <a:latin typeface="Microsoft YaHei"/>
              </a:rPr>
              <a:t>V1：c456aef（首次基线） ｜ V1.1：6299e2c（独立修复标签） ｜ 13 项 V1 关键文件哈希一致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66160" cy="361188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" cy="3611880"/>
          </a:xfrm>
          <a:prstGeom prst="rect">
            <a:avLst/>
          </a:prstGeom>
          <a:solidFill>
            <a:srgbClr val="148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56816"/>
            <a:ext cx="3154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8889"/>
                </a:solidFill>
                <a:latin typeface="Microsoft YaHei"/>
              </a:rPr>
              <a:t>T1 理论学习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59152"/>
            <a:ext cx="3154679" cy="2953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V1：被路由为 coach，未完成。
V1.1：intent=tutor；完成定义、正反例、常见错误、练习任务和 3 个理解检查。
复测：通过。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828800"/>
            <a:ext cx="3566160" cy="361188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828800"/>
            <a:ext cx="73152" cy="3611880"/>
          </a:xfrm>
          <a:prstGeom prst="rect">
            <a:avLst/>
          </a:prstGeom>
          <a:solidFill>
            <a:srgbClr val="148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956816"/>
            <a:ext cx="3154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8889"/>
                </a:solidFill>
                <a:latin typeface="Microsoft YaHei"/>
              </a:rPr>
              <a:t>T2 项目指导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59152"/>
            <a:ext cx="3154679" cy="2953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V1：一次输出多项诊断与问题。
V1.1：intent=coach；只给一个问题和一个验收标准，不要求虚构访谈。
复测：通过。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828800"/>
            <a:ext cx="3566160" cy="361188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828800"/>
            <a:ext cx="73152" cy="3611880"/>
          </a:xfrm>
          <a:prstGeom prst="rect">
            <a:avLst/>
          </a:prstGeom>
          <a:solidFill>
            <a:srgbClr val="148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956816"/>
            <a:ext cx="3154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8889"/>
                </a:solidFill>
                <a:latin typeface="Microsoft YaHei"/>
              </a:rPr>
              <a:t>T3 项目评审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359152"/>
            <a:ext cx="3154679" cy="2953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V1：返回 coach 式通用诊断。
V1.1：intent=grader；完成社会价值、实践依据、创新、前景和团队五维评审。
复测：通过。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96D4EB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真实问题案例与任务影响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CBDCEB"/>
                </a:solidFill>
                <a:latin typeface="Microsoft YaHei"/>
              </a:rPr>
              <a:t>D 区：5 个可复现案例，覆盖 ≥2 个流程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3657600" cy="146304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960120"/>
            <a:ext cx="73152" cy="1463040"/>
          </a:xfrm>
          <a:prstGeom prst="rect">
            <a:avLst/>
          </a:prstGeom>
          <a:solidFill>
            <a:srgbClr val="B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88136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F3838"/>
                </a:solidFill>
                <a:latin typeface="Microsoft YaHei"/>
              </a:rPr>
              <a:t>P0：环境依赖冲突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32461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默认全局环境无法启动；隔离环境只用于保留并复现首次基线。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960120"/>
            <a:ext cx="3657600" cy="146304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960120"/>
            <a:ext cx="73152" cy="1463040"/>
          </a:xfrm>
          <a:prstGeom prst="rect">
            <a:avLst/>
          </a:prstGeom>
          <a:solidFill>
            <a:srgbClr val="B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088136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F3838"/>
                </a:solidFill>
                <a:latin typeface="Microsoft YaHei"/>
              </a:rPr>
              <a:t>P1：显式流程被覆盖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490472"/>
            <a:ext cx="32461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指定 tutor / grader 后仍返回 coach，T1/T3/C2 目标失效。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960120"/>
            <a:ext cx="3566160" cy="146304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6" y="960120"/>
            <a:ext cx="73152" cy="1463040"/>
          </a:xfrm>
          <a:prstGeom prst="rect">
            <a:avLst/>
          </a:prstGeom>
          <a:solidFill>
            <a:srgbClr val="D2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088136"/>
            <a:ext cx="31546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D2791F"/>
                </a:solidFill>
                <a:latin typeface="Microsoft YaHei"/>
              </a:rPr>
              <a:t>P1：F/I/H/S 边界失效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1490472"/>
            <a:ext cx="3154679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对“未做真实验证”的材料仍要求补写访谈等事实，或产生无来源风险。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743200"/>
            <a:ext cx="3657600" cy="146304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743200"/>
            <a:ext cx="73152" cy="1463040"/>
          </a:xfrm>
          <a:prstGeom prst="rect">
            <a:avLst/>
          </a:prstGeom>
          <a:solidFill>
            <a:srgbClr val="D2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71216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D2791F"/>
                </a:solidFill>
                <a:latin typeface="Microsoft YaHei"/>
              </a:rPr>
              <a:t>P1：单步指导失效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73552"/>
            <a:ext cx="32461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要求每步一个任务和验收标准，仍一次输出多项诊断。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2743200"/>
            <a:ext cx="3657600" cy="146304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2743200"/>
            <a:ext cx="73152" cy="1463040"/>
          </a:xfrm>
          <a:prstGeom prst="rect">
            <a:avLst/>
          </a:prstGeom>
          <a:solidFill>
            <a:srgbClr val="BF3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2871216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BF3838"/>
                </a:solidFill>
                <a:latin typeface="Microsoft YaHei"/>
              </a:rPr>
              <a:t>P1：分类请求误拦截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273552"/>
            <a:ext cx="32461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C3 的 F/I/H/S 与健康隐私检查被误判为代写，未完成分类。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7492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5C6978"/>
                </a:solidFill>
                <a:latin typeface="Microsoft YaHei"/>
              </a:rPr>
              <a:t>原始对话、时间、会话 ID、人工干预与复现步骤已在正式主文档附录中保留。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1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96D4EB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阶段结论与下一步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CBDCEB"/>
                </a:solidFill>
                <a:latin typeface="Microsoft YaHei"/>
              </a:rPr>
              <a:t>E 区：G1–G5 的证据链已齐备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303520" cy="448056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73152" cy="4480560"/>
          </a:xfrm>
          <a:prstGeom prst="rect">
            <a:avLst/>
          </a:prstGeom>
          <a:solidFill>
            <a:srgbClr val="148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71016"/>
            <a:ext cx="4892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48889"/>
                </a:solidFill>
                <a:latin typeface="Microsoft YaHei"/>
              </a:rPr>
              <a:t>本阶段结论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73352"/>
            <a:ext cx="4892040" cy="3822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CareAI 已完成有边界的立项与可追溯证据整理。
VentureAI V1 的首次失败被完整保留；V1.1 已在独立提交中完成 T1/T2/T3 和 F/I/H/S 复测。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303520" cy="4480560"/>
          </a:xfrm>
          <a:prstGeom prst="roundRect">
            <a:avLst/>
          </a:prstGeom>
          <a:solidFill>
            <a:srgbClr val="EFF5FB"/>
          </a:solidFill>
          <a:ln>
            <a:solidFill>
              <a:srgbClr val="D2E0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43000"/>
            <a:ext cx="73152" cy="4480560"/>
          </a:xfrm>
          <a:prstGeom prst="rect">
            <a:avLst/>
          </a:prstGeom>
          <a:solidFill>
            <a:srgbClr val="276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71016"/>
            <a:ext cx="4892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764A3"/>
                </a:solidFill>
                <a:latin typeface="Microsoft YaHei"/>
              </a:rPr>
              <a:t>第二阶段优先级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73352"/>
            <a:ext cx="4892040" cy="3822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22D3B"/>
                </a:solidFill>
                <a:latin typeface="Microsoft YaHei"/>
              </a:rPr>
              <a:t>1. 持续验证锁定依赖环境
2. 扩展显式路由回归测试
3. 细化 F/I/H/S 证据追踪
4. 评估单步协议的多轮体验
5. 继续区分材料评审与代写拦截
保留 V1 与 V1.1 全部日志。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C6978"/>
                </a:solidFill>
                <a:latin typeface="Microsoft YaHei"/>
              </a:rPr>
              <a:t>谢谢｜问题、局限与下一步均可回溯至正式提交材料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