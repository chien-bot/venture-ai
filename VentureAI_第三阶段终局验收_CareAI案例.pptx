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8" r:id="rId4"/>
    <p:sldId id="260" r:id="rId5"/>
    <p:sldId id="261" r:id="rId6"/>
    <p:sldId id="262" r:id="rId7"/>
    <p:sldId id="263" r:id="rId8"/>
    <p:sldId id="264" r:id="rId9"/>
    <p:sldId id="265" r:id="rId10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hyperlink" Target="https://paper.people.com.cn/rmrb/pc/content/202512/16/content_30124850.html" TargetMode="External"/><Relationship Id="rId1" Type="http://schemas.openxmlformats.org/officeDocument/2006/relationships/hyperlink" Target="https://apps.apple.com/cn/app/id6743828427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658368"/>
            <a:ext cx="1417320" cy="365760"/>
          </a:xfrm>
          <a:prstGeom prst="roundRect">
            <a:avLst/>
          </a:prstGeom>
          <a:solidFill>
            <a:srgbClr val="22D3EE"/>
          </a:solidFill>
          <a:ln w="101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417320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950" b="1">
                <a:solidFill>
                  <a:srgbClr val="08111F"/>
                </a:solidFill>
                <a:latin typeface="PingFang SC"/>
              </a:rPr>
              <a:t>10-SLIDE REVIEW</a:t>
            </a:r>
            <a:endParaRPr sz="950" b="1">
              <a:solidFill>
                <a:srgbClr val="08111F"/>
              </a:solidFill>
              <a:latin typeface="PingFang S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1389888"/>
            <a:ext cx="7360920" cy="15544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3300" b="1">
                <a:solidFill>
                  <a:srgbClr val="F4F7FB"/>
                </a:solidFill>
                <a:latin typeface="PingFang SC"/>
              </a:rPr>
              <a:t>为什么选择 CareAI，
以及 VentureAI 改了什么</a:t>
            </a:r>
            <a:endParaRPr sz="33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94944" y="3291840"/>
            <a:ext cx="685800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700" b="1">
                <a:solidFill>
                  <a:srgbClr val="22D3EE"/>
                </a:solidFill>
                <a:latin typeface="PingFang SC"/>
              </a:rPr>
              <a:t>竞品：蚂蚁阿福  ·  证据：修改前后真实截图</a:t>
            </a:r>
            <a:endParaRPr sz="17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94944" y="3803904"/>
            <a:ext cx="457200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0">
                <a:solidFill>
                  <a:srgbClr val="9FB0C7"/>
                </a:solidFill>
                <a:latin typeface="PingFang SC"/>
              </a:rPr>
              <a:t>第三阶段终局验收精简版</a:t>
            </a:r>
            <a:endParaRPr sz="140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8275320" y="841248"/>
            <a:ext cx="3200400" cy="5166360"/>
          </a:xfrm>
          <a:prstGeom prst="roundRect">
            <a:avLst/>
          </a:prstGeom>
          <a:solidFill>
            <a:srgbClr val="14213A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1080" y="1325880"/>
            <a:ext cx="10972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22D3EE"/>
                </a:solidFill>
                <a:latin typeface="PingFang SC"/>
              </a:rPr>
              <a:t>PART 01</a:t>
            </a:r>
            <a:endParaRPr sz="11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41080" y="1719072"/>
            <a:ext cx="219456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000" b="1">
                <a:solidFill>
                  <a:srgbClr val="F4F7FB"/>
                </a:solidFill>
                <a:latin typeface="PingFang SC"/>
              </a:rPr>
              <a:t>CareAI × 阿福</a:t>
            </a:r>
            <a:endParaRPr sz="20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41080" y="2331720"/>
            <a:ext cx="2194560" cy="12344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9FB0C7"/>
                </a:solidFill>
                <a:latin typeface="PingFang SC"/>
              </a:rPr>
              <a:t>直接竞争比较
优势与选择条件
公平验证方案</a:t>
            </a:r>
            <a:endParaRPr sz="150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641080" y="3822191"/>
            <a:ext cx="2331720" cy="54864"/>
          </a:xfrm>
          <a:prstGeom prst="rect">
            <a:avLst/>
          </a:prstGeom>
          <a:solidFill>
            <a:srgbClr val="22D3EE"/>
          </a:solidFill>
          <a:ln w="101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4160520"/>
            <a:ext cx="10972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  <a:latin typeface="PingFang SC"/>
              </a:rPr>
              <a:t>PART 02</a:t>
            </a:r>
            <a:endParaRPr sz="1100" b="1">
              <a:solidFill>
                <a:srgbClr val="10B981"/>
              </a:solidFill>
              <a:latin typeface="PingFang SC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641080" y="4553712"/>
            <a:ext cx="242316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900" b="1">
                <a:solidFill>
                  <a:srgbClr val="F4F7FB"/>
                </a:solidFill>
                <a:latin typeface="PingFang SC"/>
              </a:rPr>
              <a:t>VentureAI 前 × 后</a:t>
            </a:r>
            <a:endParaRPr sz="19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641080" y="5074920"/>
            <a:ext cx="2194560" cy="685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500" b="0">
                <a:solidFill>
                  <a:srgbClr val="9FB0C7"/>
                </a:solidFill>
                <a:latin typeface="PingFang SC"/>
              </a:rPr>
              <a:t>全部关键变化
四张真实截图</a:t>
            </a:r>
            <a:endParaRPr sz="150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58368" y="6547104"/>
            <a:ext cx="9875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0">
                <a:solidFill>
                  <a:srgbClr val="9FB0C7"/>
                </a:solidFill>
                <a:latin typeface="PingFang SC"/>
              </a:rPr>
              <a:t>第三阶段终局验收 · 2026-09-15</a:t>
            </a:r>
            <a:endParaRPr sz="8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972800" y="6501384"/>
            <a:ext cx="5486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1000" b="1">
                <a:solidFill>
                  <a:srgbClr val="22D3EE"/>
                </a:solidFill>
                <a:latin typeface="PingFang SC"/>
              </a:rPr>
              <a:t>01</a:t>
            </a:r>
            <a:endParaRPr sz="1000" b="1">
              <a:solidFill>
                <a:srgbClr val="22D3EE"/>
              </a:solidFill>
              <a:latin typeface="PingFang S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4008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PingFang SC"/>
              </a:rPr>
              <a:t>VENTUREAI · 第三阶段终局验收</a:t>
            </a:r>
            <a:endParaRPr sz="9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600" b="1">
                <a:solidFill>
                  <a:srgbClr val="F4F7FB"/>
                </a:solidFill>
                <a:latin typeface="PingFang SC"/>
              </a:rPr>
              <a:t>CareAI 与蚂蚁阿福：直接竞品对照</a:t>
            </a:r>
            <a:endParaRPr sz="26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107899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阿福规模与生态更强；CareAI 争夺的是可解释、低复杂度的细分体验</a:t>
            </a:r>
            <a:endParaRPr sz="11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875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0">
                <a:solidFill>
                  <a:srgbClr val="9FB0C7"/>
                </a:solidFill>
                <a:latin typeface="PingFang SC"/>
              </a:rPr>
              <a:t>课程报告与本地验收证据 · 2026-09-15</a:t>
            </a:r>
            <a:endParaRPr sz="8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501384"/>
            <a:ext cx="5486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1000" b="1">
                <a:solidFill>
                  <a:srgbClr val="22D3EE"/>
                </a:solidFill>
                <a:latin typeface="PingFang SC"/>
              </a:rPr>
              <a:t>03</a:t>
            </a:r>
            <a:endParaRPr sz="10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2560320" cy="502920"/>
          </a:xfrm>
          <a:prstGeom prst="roundRect">
            <a:avLst/>
          </a:prstGeom>
          <a:solidFill>
            <a:srgbClr val="14213A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1655064"/>
            <a:ext cx="22860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9FB0C7"/>
                </a:solidFill>
                <a:latin typeface="PingFang SC"/>
              </a:rPr>
              <a:t>维度</a:t>
            </a:r>
            <a:endParaRPr sz="1200" b="1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429000" y="1508760"/>
            <a:ext cx="3767328" cy="502920"/>
          </a:xfrm>
          <a:prstGeom prst="roundRect">
            <a:avLst/>
          </a:prstGeom>
          <a:solidFill>
            <a:srgbClr val="14213A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655064"/>
            <a:ext cx="3493008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PingFang SC"/>
              </a:rPr>
              <a:t>CareAI</a:t>
            </a:r>
            <a:endParaRPr sz="12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424927" y="1508760"/>
            <a:ext cx="4096512" cy="502920"/>
          </a:xfrm>
          <a:prstGeom prst="roundRect">
            <a:avLst/>
          </a:prstGeom>
          <a:solidFill>
            <a:srgbClr val="14213A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62088" y="1655064"/>
            <a:ext cx="3822192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  <a:latin typeface="PingFang SC"/>
              </a:rPr>
              <a:t>蚂蚁阿福</a:t>
            </a:r>
            <a:endParaRPr sz="1200" b="1">
              <a:solidFill>
                <a:srgbClr val="10B981"/>
              </a:solidFill>
              <a:latin typeface="PingFang SC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58368" y="2093976"/>
            <a:ext cx="2560320" cy="521207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167128"/>
            <a:ext cx="232257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50" b="1">
                <a:solidFill>
                  <a:srgbClr val="9FB0C7"/>
                </a:solidFill>
                <a:latin typeface="PingFang SC"/>
              </a:rPr>
              <a:t>核心选择理由</a:t>
            </a:r>
            <a:endParaRPr sz="1050" b="1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429000" y="2093976"/>
            <a:ext cx="3767328" cy="521207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872" y="2167128"/>
            <a:ext cx="3529584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轻量、解释透明、规则可追溯</a:t>
            </a:r>
            <a:endParaRPr sz="10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424927" y="2093976"/>
            <a:ext cx="4096512" cy="521207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2167128"/>
            <a:ext cx="3858768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完整生态、服务连接、品牌与规模</a:t>
            </a:r>
            <a:endParaRPr sz="10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58368" y="2688336"/>
            <a:ext cx="2560320" cy="521207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61488"/>
            <a:ext cx="232257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50" b="1">
                <a:solidFill>
                  <a:srgbClr val="9FB0C7"/>
                </a:solidFill>
                <a:latin typeface="PingFang SC"/>
              </a:rPr>
              <a:t>健康档案/习惯</a:t>
            </a:r>
            <a:endParaRPr sz="1050" b="1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429000" y="2688336"/>
            <a:ext cx="3767328" cy="521207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47872" y="2761488"/>
            <a:ext cx="3529584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基础记录 + 7天行动计划</a:t>
            </a:r>
            <a:endParaRPr sz="10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424927" y="2688336"/>
            <a:ext cx="4096512" cy="521207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2761488"/>
            <a:ext cx="3858768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个人/家庭档案 + 健康小目标与提醒</a:t>
            </a:r>
            <a:endParaRPr sz="10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58368" y="3282696"/>
            <a:ext cx="2560320" cy="521207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355848"/>
            <a:ext cx="232257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50" b="1">
                <a:solidFill>
                  <a:srgbClr val="9FB0C7"/>
                </a:solidFill>
                <a:latin typeface="PingFang SC"/>
              </a:rPr>
              <a:t>AI 使用方式</a:t>
            </a:r>
            <a:endParaRPr sz="1050" b="1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429000" y="3282696"/>
            <a:ext cx="3767328" cy="521207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47872" y="3355848"/>
            <a:ext cx="3529584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规则给结论，受限 AI 做解释</a:t>
            </a:r>
            <a:endParaRPr sz="10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424927" y="3282696"/>
            <a:ext cx="4096512" cy="521207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43800" y="3355848"/>
            <a:ext cx="3858768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健康咨询、报告解读与个性化服务</a:t>
            </a:r>
            <a:endParaRPr sz="10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58368" y="3877056"/>
            <a:ext cx="2560320" cy="521207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3950208"/>
            <a:ext cx="232257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50" b="1">
                <a:solidFill>
                  <a:srgbClr val="9FB0C7"/>
                </a:solidFill>
                <a:latin typeface="PingFang SC"/>
              </a:rPr>
              <a:t>服务边界</a:t>
            </a:r>
            <a:endParaRPr sz="1050" b="1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429000" y="3877056"/>
            <a:ext cx="3767328" cy="521207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47872" y="3950208"/>
            <a:ext cx="3529584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非诊断健康教育与习惯管理</a:t>
            </a:r>
            <a:endParaRPr sz="10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7424927" y="3877056"/>
            <a:ext cx="4096512" cy="521207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43800" y="3950208"/>
            <a:ext cx="3858768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可连接挂号、云陪诊等医疗健康服务</a:t>
            </a:r>
            <a:endParaRPr sz="10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58368" y="4471416"/>
            <a:ext cx="2560320" cy="521207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4544568"/>
            <a:ext cx="232257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50" b="1">
                <a:solidFill>
                  <a:srgbClr val="9FB0C7"/>
                </a:solidFill>
                <a:latin typeface="PingFang SC"/>
              </a:rPr>
              <a:t>当前短板</a:t>
            </a:r>
            <a:endParaRPr sz="1050" b="1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3429000" y="4471416"/>
            <a:ext cx="3767328" cy="521207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47872" y="4544568"/>
            <a:ext cx="3529584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无真实用户、留存与付费证据</a:t>
            </a:r>
            <a:endParaRPr sz="10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7424927" y="4471416"/>
            <a:ext cx="4096512" cy="521207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43800" y="4544568"/>
            <a:ext cx="3858768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具体体验效果仍须同条件实测</a:t>
            </a:r>
            <a:endParaRPr sz="10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58368" y="5065776"/>
            <a:ext cx="2560320" cy="521207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7240" y="5138928"/>
            <a:ext cx="2322576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50" b="1">
                <a:solidFill>
                  <a:srgbClr val="9FB0C7"/>
                </a:solidFill>
                <a:latin typeface="PingFang SC"/>
              </a:rPr>
              <a:t>更适合谁</a:t>
            </a:r>
            <a:endParaRPr sz="1050" b="1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3429000" y="5065776"/>
            <a:ext cx="3767328" cy="521207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47872" y="5138928"/>
            <a:ext cx="3529584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看重简单、透明、可复核的用户</a:t>
            </a:r>
            <a:endParaRPr sz="10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7424927" y="5065776"/>
            <a:ext cx="4096512" cy="521207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43800" y="5138928"/>
            <a:ext cx="3858768" cy="36576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50" b="0">
                <a:solidFill>
                  <a:srgbClr val="F4F7FB"/>
                </a:solidFill>
                <a:latin typeface="PingFang SC"/>
              </a:rPr>
              <a:t>需要家庭档案和医疗服务生态的用户</a:t>
            </a:r>
            <a:endParaRPr sz="10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94944" y="5815584"/>
            <a:ext cx="29718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0" u="sng">
                <a:solidFill>
                  <a:srgbClr val="9FB0C7"/>
                </a:solidFill>
                <a:latin typeface="PingFang SC"/>
                <a:hlinkClick r:id="rId1"/>
              </a:rPr>
              <a:t>来源1：蚂蚁阿福 App Store 产品页</a:t>
            </a:r>
            <a:endParaRPr sz="850" b="0" u="sng">
              <a:solidFill>
                <a:srgbClr val="9FB0C7"/>
              </a:solidFill>
              <a:latin typeface="PingFang SC"/>
              <a:hlinkClick r:id="rId1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794760" y="5815584"/>
            <a:ext cx="36576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0" u="sng">
                <a:solidFill>
                  <a:srgbClr val="9FB0C7"/>
                </a:solidFill>
                <a:latin typeface="PingFang SC"/>
                <a:hlinkClick r:id="rId2"/>
              </a:rPr>
              <a:t>来源2：人民日报（数据来源：蚂蚁集团）</a:t>
            </a:r>
            <a:endParaRPr sz="850" b="0" u="sng">
              <a:solidFill>
                <a:srgbClr val="9FB0C7"/>
              </a:solidFill>
              <a:latin typeface="PingFang SC"/>
              <a:hlinkClick r:id="rId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9144000" y="5815584"/>
            <a:ext cx="1828800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850" b="0">
                <a:solidFill>
                  <a:srgbClr val="9FB0C7"/>
                </a:solidFill>
                <a:latin typeface="PingFang SC"/>
              </a:rPr>
              <a:t>核对：2026-09-15</a:t>
            </a:r>
            <a:endParaRPr sz="850" b="0">
              <a:solidFill>
                <a:srgbClr val="9FB0C7"/>
              </a:solidFill>
              <a:latin typeface="PingFang S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4008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PingFang SC"/>
              </a:rPr>
              <a:t>VENTUREAI · 第三阶段终局验收</a:t>
            </a:r>
            <a:endParaRPr sz="9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600" b="1">
                <a:solidFill>
                  <a:srgbClr val="F4F7FB"/>
                </a:solidFill>
                <a:latin typeface="PingFang SC"/>
              </a:rPr>
              <a:t>怎样证明 CareAI 真的比阿福更适合这类用户？</a:t>
            </a:r>
            <a:endParaRPr sz="26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107899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用同一份 S（模拟）资料完成同一任务，避免功能不对等和真实健康数据风险</a:t>
            </a:r>
            <a:endParaRPr sz="11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875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0">
                <a:solidFill>
                  <a:srgbClr val="9FB0C7"/>
                </a:solidFill>
                <a:latin typeface="PingFang SC"/>
              </a:rPr>
              <a:t>课程报告与本地验收证据 · 2026-09-15</a:t>
            </a:r>
            <a:endParaRPr sz="8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501384"/>
            <a:ext cx="5486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1000" b="1">
                <a:solidFill>
                  <a:srgbClr val="22D3EE"/>
                </a:solidFill>
                <a:latin typeface="PingFang SC"/>
              </a:rPr>
              <a:t>05</a:t>
            </a:r>
            <a:endParaRPr sz="10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21792" y="1499616"/>
            <a:ext cx="5971032" cy="4142232"/>
          </a:xfrm>
          <a:prstGeom prst="roundRect">
            <a:avLst/>
          </a:prstGeom>
          <a:solidFill>
            <a:srgbClr val="0B1526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fter-careai-competito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27644"/>
            <a:ext cx="5897880" cy="368617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903720" y="1536192"/>
            <a:ext cx="4434840" cy="832104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14032" y="1755648"/>
            <a:ext cx="4114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PingFang SC"/>
              </a:rPr>
              <a:t>01</a:t>
            </a:r>
            <a:endParaRPr sz="12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662672" y="1691639"/>
            <a:ext cx="914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同资料</a:t>
            </a:r>
            <a:endParaRPr sz="14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577072" y="1700784"/>
            <a:ext cx="246888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相同虚构用户资料</a:t>
            </a:r>
            <a:endParaRPr sz="11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903720" y="2569463"/>
            <a:ext cx="4434840" cy="832104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14032" y="2788920"/>
            <a:ext cx="4114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PingFang SC"/>
              </a:rPr>
              <a:t>02</a:t>
            </a:r>
            <a:endParaRPr sz="12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7662672" y="2724911"/>
            <a:ext cx="914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同任务</a:t>
            </a:r>
            <a:endParaRPr sz="14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577072" y="2734056"/>
            <a:ext cx="246888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找解释、行动和边界</a:t>
            </a:r>
            <a:endParaRPr sz="11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903720" y="3602735"/>
            <a:ext cx="4434840" cy="832104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4032" y="3822191"/>
            <a:ext cx="4114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PingFang SC"/>
              </a:rPr>
              <a:t>03</a:t>
            </a:r>
            <a:endParaRPr sz="12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662672" y="3758183"/>
            <a:ext cx="914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换顺序</a:t>
            </a:r>
            <a:endParaRPr sz="14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577072" y="3767327"/>
            <a:ext cx="246888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抵消先后使用偏差</a:t>
            </a:r>
            <a:endParaRPr sz="11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903720" y="4636007"/>
            <a:ext cx="4434840" cy="832104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14032" y="4855464"/>
            <a:ext cx="41148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200" b="1">
                <a:solidFill>
                  <a:srgbClr val="22D3EE"/>
                </a:solidFill>
                <a:latin typeface="PingFang SC"/>
              </a:rPr>
              <a:t>04</a:t>
            </a:r>
            <a:endParaRPr sz="12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662672" y="4791455"/>
            <a:ext cx="914400" cy="29260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同指标</a:t>
            </a:r>
            <a:endParaRPr sz="14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577072" y="4800599"/>
            <a:ext cx="246888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完成、耗时、理解、清晰度、偏好</a:t>
            </a:r>
            <a:endParaRPr sz="11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6903720" y="5715000"/>
            <a:ext cx="4434840" cy="411480"/>
          </a:xfrm>
          <a:prstGeom prst="roundRect">
            <a:avLst/>
          </a:prstGeom>
          <a:solidFill>
            <a:srgbClr val="0E2030"/>
          </a:solidFill>
          <a:ln w="101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68312" y="5806440"/>
            <a:ext cx="4096512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00" b="1">
                <a:solidFill>
                  <a:srgbClr val="F4F7FB"/>
                </a:solidFill>
                <a:latin typeface="PingFang SC"/>
              </a:rPr>
              <a:t>胜出条件：理解与行动指标更好，且边界误解不增加</a:t>
            </a:r>
            <a:endParaRPr sz="1100" b="1">
              <a:solidFill>
                <a:srgbClr val="F4F7FB"/>
              </a:solidFill>
              <a:latin typeface="PingFang S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4008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PingFang SC"/>
              </a:rPr>
              <a:t>VENTUREAI · 第三阶段终局验收</a:t>
            </a:r>
            <a:endParaRPr sz="9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600" b="1">
                <a:solidFill>
                  <a:srgbClr val="F4F7FB"/>
                </a:solidFill>
                <a:latin typeface="PingFang SC"/>
              </a:rPr>
              <a:t>VentureAI 修改前：八类问题会破坏验收可信度</a:t>
            </a:r>
            <a:endParaRPr sz="26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107899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这些问题由同一份 CareAI 项目书、同一组任务实际触发</a:t>
            </a:r>
            <a:endParaRPr sz="11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875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0">
                <a:solidFill>
                  <a:srgbClr val="9FB0C7"/>
                </a:solidFill>
                <a:latin typeface="PingFang SC"/>
              </a:rPr>
              <a:t>课程报告与本地验收证据 · 2026-09-15</a:t>
            </a:r>
            <a:endParaRPr sz="8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501384"/>
            <a:ext cx="5486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1000" b="1">
                <a:solidFill>
                  <a:srgbClr val="22D3EE"/>
                </a:solidFill>
                <a:latin typeface="PingFang SC"/>
              </a:rPr>
              <a:t>06</a:t>
            </a:r>
            <a:endParaRPr sz="10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1517904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673351"/>
            <a:ext cx="502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F43F5E"/>
                </a:solidFill>
                <a:latin typeface="PingFang SC"/>
              </a:rPr>
              <a:t>P0</a:t>
            </a:r>
            <a:endParaRPr sz="1100" b="1">
              <a:solidFill>
                <a:srgbClr val="F43F5E"/>
              </a:solidFill>
              <a:latin typeface="PingFang SC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53895" y="1655063"/>
            <a:ext cx="1143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事实幻觉</a:t>
            </a:r>
            <a:endParaRPr sz="14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532887" y="1645919"/>
            <a:ext cx="31089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9FB0C7"/>
                </a:solidFill>
                <a:latin typeface="PingFang SC"/>
              </a:rPr>
              <a:t>把项目改成心理筛查；补造 NLP、访谈、团队与收入</a:t>
            </a:r>
            <a:endParaRPr sz="110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44768" y="1517904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1673351"/>
            <a:ext cx="502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F43F5E"/>
                </a:solidFill>
                <a:latin typeface="PingFang SC"/>
              </a:rPr>
              <a:t>P0</a:t>
            </a:r>
            <a:endParaRPr sz="1100" b="1">
              <a:solidFill>
                <a:srgbClr val="F43F5E"/>
              </a:solidFill>
              <a:latin typeface="PingFang SC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940296" y="1655063"/>
            <a:ext cx="1143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匿名读取</a:t>
            </a:r>
            <a:endParaRPr sz="14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019288" y="1645919"/>
            <a:ext cx="31089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9FB0C7"/>
                </a:solidFill>
                <a:latin typeface="PingFang SC"/>
              </a:rPr>
              <a:t>未登录可读项目列表、详情和会话历史</a:t>
            </a:r>
            <a:endParaRPr sz="110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8368" y="2633472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2788920"/>
            <a:ext cx="502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PingFang SC"/>
              </a:rPr>
              <a:t>P1</a:t>
            </a:r>
            <a:endParaRPr sz="1100" b="1">
              <a:solidFill>
                <a:srgbClr val="F59E0B"/>
              </a:solidFill>
              <a:latin typeface="PingFang SC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453895" y="2770632"/>
            <a:ext cx="1143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文件截断</a:t>
            </a:r>
            <a:endParaRPr sz="14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532887" y="2761488"/>
            <a:ext cx="31089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9FB0C7"/>
                </a:solidFill>
                <a:latin typeface="PingFang SC"/>
              </a:rPr>
              <a:t>上传正文只取前2000字，关键边界进入不了模型</a:t>
            </a:r>
            <a:endParaRPr sz="110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144768" y="2633472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2788920"/>
            <a:ext cx="502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PingFang SC"/>
              </a:rPr>
              <a:t>P1</a:t>
            </a:r>
            <a:endParaRPr sz="1100" b="1">
              <a:solidFill>
                <a:srgbClr val="F59E0B"/>
              </a:solidFill>
              <a:latin typeface="PingFang SC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940296" y="2770632"/>
            <a:ext cx="1143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错误记忆</a:t>
            </a:r>
            <a:endParaRPr sz="14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019288" y="2761488"/>
            <a:ext cx="31089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9FB0C7"/>
                </a:solidFill>
                <a:latin typeface="PingFang SC"/>
              </a:rPr>
              <a:t>用户纠正后仍沿用上一轮 AI 的错误设定</a:t>
            </a:r>
            <a:endParaRPr sz="110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58368" y="3749039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7" y="3904487"/>
            <a:ext cx="502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PingFang SC"/>
              </a:rPr>
              <a:t>P1</a:t>
            </a:r>
            <a:endParaRPr sz="1100" b="1">
              <a:solidFill>
                <a:srgbClr val="F59E0B"/>
              </a:solidFill>
              <a:latin typeface="PingFang SC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453895" y="3886200"/>
            <a:ext cx="1143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评分脱证据</a:t>
            </a:r>
            <a:endParaRPr sz="14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532887" y="3877055"/>
            <a:ext cx="31089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9FB0C7"/>
                </a:solidFill>
                <a:latin typeface="PingFang SC"/>
              </a:rPr>
              <a:t>R1—R11 有分数，但部分依据无法回到材料</a:t>
            </a:r>
            <a:endParaRPr sz="110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144768" y="3749039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27648" y="3904487"/>
            <a:ext cx="502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PingFang SC"/>
              </a:rPr>
              <a:t>P1</a:t>
            </a:r>
            <a:endParaRPr sz="1100" b="1">
              <a:solidFill>
                <a:srgbClr val="F59E0B"/>
              </a:solidFill>
              <a:latin typeface="PingFang SC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940296" y="3886200"/>
            <a:ext cx="1143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竞品失真</a:t>
            </a:r>
            <a:endParaRPr sz="14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019288" y="3877055"/>
            <a:ext cx="31089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9FB0C7"/>
                </a:solidFill>
                <a:latin typeface="PingFang SC"/>
              </a:rPr>
              <a:t>把两款产品都当心理筛查，自定30人和错误指标</a:t>
            </a:r>
            <a:endParaRPr sz="110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58368" y="4864608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7" y="5020056"/>
            <a:ext cx="502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PingFang SC"/>
              </a:rPr>
              <a:t>P2</a:t>
            </a:r>
            <a:endParaRPr sz="1100" b="1">
              <a:solidFill>
                <a:srgbClr val="F59E0B"/>
              </a:solidFill>
              <a:latin typeface="PingFang SC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453895" y="5001768"/>
            <a:ext cx="1143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交互过载</a:t>
            </a:r>
            <a:endParaRPr sz="14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532887" y="4992624"/>
            <a:ext cx="31089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9FB0C7"/>
                </a:solidFill>
                <a:latin typeface="PingFang SC"/>
              </a:rPr>
              <a:t>只问一个问题时仍生成多任务清单；长等待无进度</a:t>
            </a:r>
            <a:endParaRPr sz="110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144768" y="4864608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27648" y="5020056"/>
            <a:ext cx="502920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PingFang SC"/>
              </a:rPr>
              <a:t>P2</a:t>
            </a:r>
            <a:endParaRPr sz="1100" b="1">
              <a:solidFill>
                <a:srgbClr val="F59E0B"/>
              </a:solidFill>
              <a:latin typeface="PingFang SC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940296" y="5001768"/>
            <a:ext cx="1143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400" b="1">
                <a:solidFill>
                  <a:srgbClr val="F4F7FB"/>
                </a:solidFill>
                <a:latin typeface="PingFang SC"/>
              </a:rPr>
              <a:t>界面误导</a:t>
            </a:r>
            <a:endParaRPr sz="14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8019288" y="4992624"/>
            <a:ext cx="310896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00" b="0">
                <a:solidFill>
                  <a:srgbClr val="9FB0C7"/>
                </a:solidFill>
                <a:latin typeface="PingFang SC"/>
              </a:rPr>
              <a:t>未评分显示五维0分；规则误报和无关案例增加噪声</a:t>
            </a:r>
            <a:endParaRPr sz="110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31520" y="5989320"/>
            <a:ext cx="106070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00" b="1">
                <a:solidFill>
                  <a:srgbClr val="F43F5E"/>
                </a:solidFill>
                <a:latin typeface="PingFang SC"/>
              </a:rPr>
              <a:t>后果：项目建议、竞品分析、评分和验收都可能建立在错误事实上。</a:t>
            </a:r>
            <a:endParaRPr sz="1300" b="1">
              <a:solidFill>
                <a:srgbClr val="F43F5E"/>
              </a:solidFill>
              <a:latin typeface="PingFang SC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4008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PingFang SC"/>
              </a:rPr>
              <a:t>VENTUREAI · 第三阶段终局验收</a:t>
            </a:r>
            <a:endParaRPr sz="9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600" b="1">
                <a:solidFill>
                  <a:srgbClr val="F4F7FB"/>
                </a:solidFill>
                <a:latin typeface="PingFang SC"/>
              </a:rPr>
              <a:t>VentureAI 修改后（1/2）：回答内容变得可信、可执行</a:t>
            </a:r>
            <a:endParaRPr sz="26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107899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模型层、提示词层和交互层同时修复</a:t>
            </a:r>
            <a:endParaRPr sz="11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875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0">
                <a:solidFill>
                  <a:srgbClr val="9FB0C7"/>
                </a:solidFill>
                <a:latin typeface="PingFang SC"/>
              </a:rPr>
              <a:t>课程报告与本地验收证据 · 2026-09-15</a:t>
            </a:r>
            <a:endParaRPr sz="8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501384"/>
            <a:ext cx="5486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1000" b="1">
                <a:solidFill>
                  <a:srgbClr val="22D3EE"/>
                </a:solidFill>
                <a:latin typeface="PingFang SC"/>
              </a:rPr>
              <a:t>07</a:t>
            </a:r>
            <a:endParaRPr sz="10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1481328"/>
            <a:ext cx="1874519" cy="475488"/>
          </a:xfrm>
          <a:prstGeom prst="roundRect">
            <a:avLst/>
          </a:prstGeom>
          <a:solidFill>
            <a:srgbClr val="14213A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618488"/>
            <a:ext cx="1618487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1">
                <a:solidFill>
                  <a:srgbClr val="9FB0C7"/>
                </a:solidFill>
                <a:latin typeface="PingFang SC"/>
              </a:rPr>
              <a:t>变化项</a:t>
            </a:r>
            <a:endParaRPr sz="1150" b="1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743200" y="1481328"/>
            <a:ext cx="3794760" cy="475488"/>
          </a:xfrm>
          <a:prstGeom prst="roundRect">
            <a:avLst/>
          </a:prstGeom>
          <a:solidFill>
            <a:srgbClr val="14213A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1216" y="1618488"/>
            <a:ext cx="3538728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1">
                <a:solidFill>
                  <a:srgbClr val="F43F5E"/>
                </a:solidFill>
                <a:latin typeface="PingFang SC"/>
              </a:rPr>
              <a:t>修改前</a:t>
            </a:r>
            <a:endParaRPr sz="1150" b="1">
              <a:solidFill>
                <a:srgbClr val="F43F5E"/>
              </a:solidFill>
              <a:latin typeface="PingFang SC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766560" y="1481328"/>
            <a:ext cx="4754880" cy="475488"/>
          </a:xfrm>
          <a:prstGeom prst="roundRect">
            <a:avLst/>
          </a:prstGeom>
          <a:solidFill>
            <a:srgbClr val="14213A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94576" y="1618488"/>
            <a:ext cx="4498848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1">
                <a:solidFill>
                  <a:srgbClr val="10B981"/>
                </a:solidFill>
                <a:latin typeface="PingFang SC"/>
              </a:rPr>
              <a:t>修改后</a:t>
            </a:r>
            <a:endParaRPr sz="1150" b="1">
              <a:solidFill>
                <a:srgbClr val="10B981"/>
              </a:solidFill>
              <a:latin typeface="PingFang SC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58368" y="2020824"/>
            <a:ext cx="1874519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2084831"/>
            <a:ext cx="1655063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20" b="1">
                <a:solidFill>
                  <a:srgbClr val="9FB0C7"/>
                </a:solidFill>
                <a:latin typeface="PingFang SC"/>
              </a:rPr>
              <a:t>文件进入模型</a:t>
            </a:r>
            <a:endParaRPr sz="1020" b="1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743200" y="2020824"/>
            <a:ext cx="3794760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52928" y="2084831"/>
            <a:ext cx="3575304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前2000字且节点未完整读取</a:t>
            </a:r>
            <a:endParaRPr sz="9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766560" y="2020824"/>
            <a:ext cx="4754880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6288" y="2084831"/>
            <a:ext cx="4535424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最新正文 + 关键证据索引进入实际模型消息</a:t>
            </a:r>
            <a:endParaRPr sz="9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58368" y="2560320"/>
            <a:ext cx="1874519" cy="466344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2624327"/>
            <a:ext cx="1655063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20" b="1">
                <a:solidFill>
                  <a:srgbClr val="9FB0C7"/>
                </a:solidFill>
                <a:latin typeface="PingFang SC"/>
              </a:rPr>
              <a:t>事实优先级</a:t>
            </a:r>
            <a:endParaRPr sz="1020" b="1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2743200" y="2560320"/>
            <a:ext cx="3794760" cy="466344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52928" y="2624327"/>
            <a:ext cx="3575304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历史 AI 推断继续传播</a:t>
            </a:r>
            <a:endParaRPr sz="9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766560" y="2560320"/>
            <a:ext cx="4754880" cy="466344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76288" y="2624327"/>
            <a:ext cx="4535424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用户/文件事实优先；冲突时撤销旧推断</a:t>
            </a:r>
            <a:endParaRPr sz="9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58368" y="3099815"/>
            <a:ext cx="1874519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3163823"/>
            <a:ext cx="1655063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20" b="1">
                <a:solidFill>
                  <a:srgbClr val="9FB0C7"/>
                </a:solidFill>
                <a:latin typeface="PingFang SC"/>
              </a:rPr>
              <a:t>项目定位</a:t>
            </a:r>
            <a:endParaRPr sz="1020" b="1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743200" y="3099815"/>
            <a:ext cx="3794760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52928" y="3163823"/>
            <a:ext cx="3575304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心理筛查、NLP、访谈等幻觉</a:t>
            </a:r>
            <a:endParaRPr sz="9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6766560" y="3099815"/>
            <a:ext cx="4754880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6288" y="3163823"/>
            <a:ext cx="4535424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准确复述非诊断定位、MVP与未验证项</a:t>
            </a:r>
            <a:endParaRPr sz="9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58368" y="3639312"/>
            <a:ext cx="1874519" cy="466344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3703320"/>
            <a:ext cx="1655063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20" b="1">
                <a:solidFill>
                  <a:srgbClr val="9FB0C7"/>
                </a:solidFill>
                <a:latin typeface="PingFang SC"/>
              </a:rPr>
              <a:t>医疗边界</a:t>
            </a:r>
            <a:endParaRPr sz="1020" b="1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2743200" y="3639312"/>
            <a:ext cx="3794760" cy="466344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52928" y="3703320"/>
            <a:ext cx="3575304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慢性病发现可被写成普通假设</a:t>
            </a:r>
            <a:endParaRPr sz="9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766560" y="3639312"/>
            <a:ext cx="4754880" cy="466344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76288" y="3703320"/>
            <a:ext cx="4535424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临床依据不足时禁止当产品主张</a:t>
            </a:r>
            <a:endParaRPr sz="9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58368" y="4178808"/>
            <a:ext cx="1874519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96" y="4242816"/>
            <a:ext cx="1655063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20" b="1">
                <a:solidFill>
                  <a:srgbClr val="9FB0C7"/>
                </a:solidFill>
                <a:latin typeface="PingFang SC"/>
              </a:rPr>
              <a:t>竞品比较</a:t>
            </a:r>
            <a:endParaRPr sz="1020" b="1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743200" y="4178808"/>
            <a:ext cx="3794760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852928" y="4242816"/>
            <a:ext cx="3575304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不对等任务、虚构竞品能力</a:t>
            </a:r>
            <a:endParaRPr sz="9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6766560" y="4178808"/>
            <a:ext cx="4754880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76288" y="4242816"/>
            <a:ext cx="4535424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同资料、同任务、同指标；未知项写未找到</a:t>
            </a:r>
            <a:endParaRPr sz="9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58368" y="4718304"/>
            <a:ext cx="1874519" cy="466344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96" y="4782312"/>
            <a:ext cx="1655063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20" b="1">
                <a:solidFill>
                  <a:srgbClr val="9FB0C7"/>
                </a:solidFill>
                <a:latin typeface="PingFang SC"/>
              </a:rPr>
              <a:t>R1—R11</a:t>
            </a:r>
            <a:endParaRPr sz="1020" b="1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2743200" y="4718304"/>
            <a:ext cx="3794760" cy="466344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852928" y="4782312"/>
            <a:ext cx="3575304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分数与正文脱节</a:t>
            </a:r>
            <a:endParaRPr sz="9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6766560" y="4718304"/>
            <a:ext cx="4754880" cy="466344"/>
          </a:xfrm>
          <a:prstGeom prst="rect">
            <a:avLst/>
          </a:prstGeom>
          <a:solidFill>
            <a:srgbClr val="0C1728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76288" y="4782312"/>
            <a:ext cx="4535424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逐项显示依据、缺口和下一步，返回完整结构</a:t>
            </a:r>
            <a:endParaRPr sz="9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658368" y="5257800"/>
            <a:ext cx="1874519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8096" y="5321808"/>
            <a:ext cx="1655063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1020" b="1">
                <a:solidFill>
                  <a:srgbClr val="9FB0C7"/>
                </a:solidFill>
                <a:latin typeface="PingFang SC"/>
              </a:rPr>
              <a:t>对话方式</a:t>
            </a:r>
            <a:endParaRPr sz="1020" b="1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743200" y="5257800"/>
            <a:ext cx="3794760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852928" y="5321808"/>
            <a:ext cx="3575304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一个问题变成多项作业</a:t>
            </a:r>
            <a:endParaRPr sz="9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6766560" y="5257800"/>
            <a:ext cx="4754880" cy="466344"/>
          </a:xfrm>
          <a:prstGeom prst="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876288" y="5321808"/>
            <a:ext cx="4535424" cy="32004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l"/>
            <a:r>
              <a:rPr sz="950" b="0">
                <a:solidFill>
                  <a:srgbClr val="F4F7FB"/>
                </a:solidFill>
                <a:latin typeface="PingFang SC"/>
              </a:rPr>
              <a:t>首轮只保留一个下一步问题</a:t>
            </a:r>
            <a:endParaRPr sz="950" b="0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658368" y="5943600"/>
            <a:ext cx="10863072" cy="274320"/>
          </a:xfrm>
          <a:prstGeom prst="roundRect">
            <a:avLst/>
          </a:prstGeom>
          <a:solidFill>
            <a:srgbClr val="0E2030"/>
          </a:solidFill>
          <a:ln w="101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4008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PingFang SC"/>
              </a:rPr>
              <a:t>VENTUREAI · 第三阶段终局验收</a:t>
            </a:r>
            <a:endParaRPr sz="9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600" b="1">
                <a:solidFill>
                  <a:srgbClr val="F4F7FB"/>
                </a:solidFill>
                <a:latin typeface="PingFang SC"/>
              </a:rPr>
              <a:t>VentureAI 修改后（2/2）：系统层形成完整证据闭环</a:t>
            </a:r>
            <a:endParaRPr sz="26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107899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数据库、权限、版本和产品门槛共同保证结果可审计</a:t>
            </a:r>
            <a:endParaRPr sz="11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875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0">
                <a:solidFill>
                  <a:srgbClr val="9FB0C7"/>
                </a:solidFill>
                <a:latin typeface="PingFang SC"/>
              </a:rPr>
              <a:t>课程报告与本地验收证据 · 2026-09-15</a:t>
            </a:r>
            <a:endParaRPr sz="8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501384"/>
            <a:ext cx="5486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1000" b="1">
                <a:solidFill>
                  <a:srgbClr val="22D3EE"/>
                </a:solidFill>
                <a:latin typeface="PingFang SC"/>
              </a:rPr>
              <a:t>08</a:t>
            </a:r>
            <a:endParaRPr sz="10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1508760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32103" y="1691639"/>
            <a:ext cx="73152" cy="457200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36776"/>
            <a:ext cx="117043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50" b="1">
                <a:solidFill>
                  <a:srgbClr val="F4F7FB"/>
                </a:solidFill>
                <a:latin typeface="PingFang SC"/>
              </a:rPr>
              <a:t>安全权限</a:t>
            </a:r>
            <a:endParaRPr sz="135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267712" y="1627631"/>
            <a:ext cx="338328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80" b="0">
                <a:solidFill>
                  <a:srgbClr val="9FB0C7"/>
                </a:solidFill>
                <a:latin typeface="PingFang SC"/>
              </a:rPr>
              <a:t>项目、会话、上传、工具、知识与图谱均需身份和项目/班级权限</a:t>
            </a:r>
            <a:endParaRPr sz="108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44768" y="1508760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18504" y="1691639"/>
            <a:ext cx="73152" cy="457200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59" y="1636776"/>
            <a:ext cx="117043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50" b="1">
                <a:solidFill>
                  <a:srgbClr val="F4F7FB"/>
                </a:solidFill>
                <a:latin typeface="PingFang SC"/>
              </a:rPr>
              <a:t>注册边界</a:t>
            </a:r>
            <a:endParaRPr sz="135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754112" y="1627631"/>
            <a:ext cx="338328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80" b="0">
                <a:solidFill>
                  <a:srgbClr val="9FB0C7"/>
                </a:solidFill>
                <a:latin typeface="PingFang SC"/>
              </a:rPr>
              <a:t>公开注册只能创建学生；教师和管理员必须授权配置</a:t>
            </a:r>
            <a:endParaRPr sz="108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8368" y="2624328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2103" y="2807208"/>
            <a:ext cx="73152" cy="457200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2752344"/>
            <a:ext cx="117043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50" b="1">
                <a:solidFill>
                  <a:srgbClr val="F4F7FB"/>
                </a:solidFill>
                <a:latin typeface="PingFang SC"/>
              </a:rPr>
              <a:t>运行追踪</a:t>
            </a:r>
            <a:endParaRPr sz="135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267712" y="2743200"/>
            <a:ext cx="338328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80" b="0">
                <a:solidFill>
                  <a:srgbClr val="9FB0C7"/>
                </a:solidFill>
                <a:latin typeface="PingFang SC"/>
              </a:rPr>
              <a:t>保存 run_id、版本、Git、模型、代码/提示词哈希、状态和时间</a:t>
            </a:r>
            <a:endParaRPr sz="108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144768" y="2624328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18504" y="2807208"/>
            <a:ext cx="73152" cy="457200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59" y="2752344"/>
            <a:ext cx="117043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50" b="1">
                <a:solidFill>
                  <a:srgbClr val="F4F7FB"/>
                </a:solidFill>
                <a:latin typeface="PingFang SC"/>
              </a:rPr>
              <a:t>失败与等待</a:t>
            </a:r>
            <a:endParaRPr sz="135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754112" y="2743200"/>
            <a:ext cx="338328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80" b="0">
                <a:solidFill>
                  <a:srgbClr val="9FB0C7"/>
                </a:solidFill>
                <a:latin typeface="PingFang SC"/>
              </a:rPr>
              <a:t>失败运行仍留痕；长流式任务发送“正在核对”进度</a:t>
            </a:r>
            <a:endParaRPr sz="108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58368" y="3739896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32103" y="3922776"/>
            <a:ext cx="73152" cy="457200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3867911"/>
            <a:ext cx="117043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50" b="1">
                <a:solidFill>
                  <a:srgbClr val="F4F7FB"/>
                </a:solidFill>
                <a:latin typeface="PingFang SC"/>
              </a:rPr>
              <a:t>材料上传</a:t>
            </a:r>
            <a:endParaRPr sz="135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267712" y="3858768"/>
            <a:ext cx="338328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80" b="0">
                <a:solidFill>
                  <a:srgbClr val="9FB0C7"/>
                </a:solidFill>
                <a:latin typeface="PingFang SC"/>
              </a:rPr>
              <a:t>新增 DOCX/PPTX 提取；报告文档实测读取13,430字</a:t>
            </a:r>
            <a:endParaRPr sz="108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144768" y="3739896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18504" y="3922776"/>
            <a:ext cx="73152" cy="457200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37959" y="3867911"/>
            <a:ext cx="117043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50" b="1">
                <a:solidFill>
                  <a:srgbClr val="F4F7FB"/>
                </a:solidFill>
                <a:latin typeface="PingFang SC"/>
              </a:rPr>
              <a:t>Agent草稿</a:t>
            </a:r>
            <a:endParaRPr sz="135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754112" y="3858768"/>
            <a:ext cx="338328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80" b="0">
                <a:solidFill>
                  <a:srgbClr val="9FB0C7"/>
                </a:solidFill>
                <a:latin typeface="PingFang SC"/>
              </a:rPr>
              <a:t>草稿不能当正式成果；必须由学生核验并提交新版本</a:t>
            </a:r>
            <a:endParaRPr sz="108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58368" y="4855464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2103" y="5038344"/>
            <a:ext cx="73152" cy="457200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983480"/>
            <a:ext cx="117043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50" b="1">
                <a:solidFill>
                  <a:srgbClr val="F4F7FB"/>
                </a:solidFill>
                <a:latin typeface="PingFang SC"/>
              </a:rPr>
              <a:t>第三阶段</a:t>
            </a:r>
            <a:endParaRPr sz="135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267712" y="4974336"/>
            <a:ext cx="338328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80" b="0">
                <a:solidFill>
                  <a:srgbClr val="9FB0C7"/>
                </a:solidFill>
                <a:latin typeface="PingFang SC"/>
              </a:rPr>
              <a:t>G1—G6、六类材料、F1/F2/F3、F/I/H/S、D1—D9</a:t>
            </a:r>
            <a:endParaRPr sz="108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144768" y="4855464"/>
            <a:ext cx="5230368" cy="914400"/>
          </a:xfrm>
          <a:prstGeom prst="roundRect">
            <a:avLst/>
          </a:prstGeom>
          <a:solidFill>
            <a:srgbClr val="101B2D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18504" y="5038344"/>
            <a:ext cx="73152" cy="457200"/>
          </a:xfrm>
          <a:prstGeom prst="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59" y="4983480"/>
            <a:ext cx="1170432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350" b="1">
                <a:solidFill>
                  <a:srgbClr val="F4F7FB"/>
                </a:solidFill>
                <a:latin typeface="PingFang SC"/>
              </a:rPr>
              <a:t>评分验收</a:t>
            </a:r>
            <a:endParaRPr sz="135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7754112" y="4974336"/>
            <a:ext cx="3383280" cy="53035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080" b="0">
                <a:solidFill>
                  <a:srgbClr val="9FB0C7"/>
                </a:solidFill>
                <a:latin typeface="PingFang SC"/>
              </a:rPr>
              <a:t>项目/Agent/答辩三表；版本变化使旧评分失效；支持排名与导出</a:t>
            </a:r>
            <a:endParaRPr sz="108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58368" y="5943600"/>
            <a:ext cx="10863072" cy="310896"/>
          </a:xfrm>
          <a:prstGeom prst="round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" y="5989320"/>
            <a:ext cx="10497312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200" b="1">
                <a:solidFill>
                  <a:srgbClr val="08111F"/>
                </a:solidFill>
                <a:latin typeface="PingFang SC"/>
              </a:rPr>
              <a:t>验证：15项后端测试通过 · TypeScript通过 · 生产构建通过 · V2版本已冻结</a:t>
            </a:r>
            <a:endParaRPr sz="1200" b="1">
              <a:solidFill>
                <a:srgbClr val="08111F"/>
              </a:solidFill>
              <a:latin typeface="PingFang S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4008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PingFang SC"/>
              </a:rPr>
              <a:t>VENTUREAI · 第三阶段终局验收</a:t>
            </a:r>
            <a:endParaRPr sz="9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600" b="1">
                <a:solidFill>
                  <a:srgbClr val="F4F7FB"/>
                </a:solidFill>
                <a:latin typeface="PingFang SC"/>
              </a:rPr>
              <a:t>真实截图｜教练流程：从错误项目画像到证据优先</a:t>
            </a:r>
            <a:endParaRPr sz="26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107899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同一 CareAI 项目书、同一核心问题</a:t>
            </a:r>
            <a:endParaRPr sz="11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875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0">
                <a:solidFill>
                  <a:srgbClr val="9FB0C7"/>
                </a:solidFill>
                <a:latin typeface="PingFang SC"/>
              </a:rPr>
              <a:t>课程报告与本地验收证据 · 2026-09-15</a:t>
            </a:r>
            <a:endParaRPr sz="8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501384"/>
            <a:ext cx="5486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1000" b="1">
                <a:solidFill>
                  <a:srgbClr val="22D3EE"/>
                </a:solidFill>
                <a:latin typeface="PingFang SC"/>
              </a:rPr>
              <a:t>09</a:t>
            </a:r>
            <a:endParaRPr sz="10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21792" y="1499616"/>
            <a:ext cx="5303520" cy="4233672"/>
          </a:xfrm>
          <a:prstGeom prst="roundRect">
            <a:avLst/>
          </a:prstGeom>
          <a:solidFill>
            <a:srgbClr val="0B1526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efore-careai-coach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7" y="1981961"/>
            <a:ext cx="5230368" cy="32689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54496" y="1499616"/>
            <a:ext cx="5303520" cy="4233672"/>
          </a:xfrm>
          <a:prstGeom prst="roundRect">
            <a:avLst/>
          </a:prstGeom>
          <a:solidFill>
            <a:srgbClr val="0B1526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fter-careai-coa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1" y="1981961"/>
            <a:ext cx="5230368" cy="32689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68680" y="1700784"/>
            <a:ext cx="1143000" cy="329184"/>
          </a:xfrm>
          <a:prstGeom prst="roundRect">
            <a:avLst/>
          </a:prstGeom>
          <a:solidFill>
            <a:srgbClr val="F43F5E"/>
          </a:solidFill>
          <a:ln w="1016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700784"/>
            <a:ext cx="1143000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08111F"/>
                </a:solidFill>
                <a:latin typeface="PingFang SC"/>
              </a:rPr>
              <a:t>修改前</a:t>
            </a:r>
            <a:endParaRPr sz="1100" b="1">
              <a:solidFill>
                <a:srgbClr val="08111F"/>
              </a:solidFill>
              <a:latin typeface="PingFang SC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501384" y="1700784"/>
            <a:ext cx="1143000" cy="329184"/>
          </a:xfrm>
          <a:prstGeom prst="round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4" y="1700784"/>
            <a:ext cx="1143000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08111F"/>
                </a:solidFill>
                <a:latin typeface="PingFang SC"/>
              </a:rPr>
              <a:t>修改后</a:t>
            </a:r>
            <a:endParaRPr sz="1100" b="1">
              <a:solidFill>
                <a:srgbClr val="08111F"/>
              </a:solidFill>
              <a:latin typeface="PingFang SC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8368" y="5806440"/>
            <a:ext cx="10863072" cy="393192"/>
          </a:xfrm>
          <a:prstGeom prst="roundRect">
            <a:avLst/>
          </a:prstGeom>
          <a:solidFill>
            <a:srgbClr val="14213A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5897880"/>
            <a:ext cx="10497312" cy="20116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180" b="1">
                <a:solidFill>
                  <a:srgbClr val="F4F7FB"/>
                </a:solidFill>
                <a:latin typeface="PingFang SC"/>
              </a:rPr>
              <a:t>前：心理筛查 / NLP / 已访谈  →  后：非诊断健康教育 / 规则与AI分层 / 明确未验证项</a:t>
            </a:r>
            <a:endParaRPr sz="1180" b="1">
              <a:solidFill>
                <a:srgbClr val="F4F7FB"/>
              </a:solidFill>
              <a:latin typeface="PingFang S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1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20040"/>
            <a:ext cx="640080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900" b="1">
                <a:solidFill>
                  <a:srgbClr val="22D3EE"/>
                </a:solidFill>
                <a:latin typeface="PingFang SC"/>
              </a:rPr>
              <a:t>VENTUREAI · 第三阶段终局验收</a:t>
            </a:r>
            <a:endParaRPr sz="9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58368" y="621792"/>
            <a:ext cx="10789920" cy="4572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2600" b="1">
                <a:solidFill>
                  <a:srgbClr val="F4F7FB"/>
                </a:solidFill>
                <a:latin typeface="PingFang SC"/>
              </a:rPr>
              <a:t>真实截图｜评分流程：从“只有分数”到“可定位修改”</a:t>
            </a:r>
            <a:endParaRPr sz="2600" b="1">
              <a:solidFill>
                <a:srgbClr val="F4F7FB"/>
              </a:solidFill>
              <a:latin typeface="PingFang SC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1097280"/>
            <a:ext cx="10789920" cy="31089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1150" b="0">
                <a:solidFill>
                  <a:srgbClr val="9FB0C7"/>
                </a:solidFill>
                <a:latin typeface="PingFang SC"/>
              </a:rPr>
              <a:t>修改后按 R1—R11 显示材料依据、证据缺口和下一步建议</a:t>
            </a:r>
            <a:endParaRPr sz="11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6547104"/>
            <a:ext cx="987552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/>
            <a:r>
              <a:rPr sz="850" b="0">
                <a:solidFill>
                  <a:srgbClr val="9FB0C7"/>
                </a:solidFill>
                <a:latin typeface="PingFang SC"/>
              </a:rPr>
              <a:t>课程报告与本地验收证据 · 2026-09-15</a:t>
            </a:r>
            <a:endParaRPr sz="850" b="0">
              <a:solidFill>
                <a:srgbClr val="9FB0C7"/>
              </a:solidFill>
              <a:latin typeface="PingFang SC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501384"/>
            <a:ext cx="54864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/>
            <a:r>
              <a:rPr sz="1000" b="1">
                <a:solidFill>
                  <a:srgbClr val="22D3EE"/>
                </a:solidFill>
                <a:latin typeface="PingFang SC"/>
              </a:rPr>
              <a:t>10</a:t>
            </a:r>
            <a:endParaRPr sz="1000" b="1">
              <a:solidFill>
                <a:srgbClr val="22D3EE"/>
              </a:solidFill>
              <a:latin typeface="PingFang SC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21792" y="1499616"/>
            <a:ext cx="5303520" cy="4050791"/>
          </a:xfrm>
          <a:prstGeom prst="roundRect">
            <a:avLst/>
          </a:prstGeom>
          <a:solidFill>
            <a:srgbClr val="0B1526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efore-careai-grad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7" y="1890522"/>
            <a:ext cx="5230368" cy="32689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54496" y="1499616"/>
            <a:ext cx="5303520" cy="4050791"/>
          </a:xfrm>
          <a:prstGeom prst="roundRect">
            <a:avLst/>
          </a:prstGeom>
          <a:solidFill>
            <a:srgbClr val="0B1526"/>
          </a:solidFill>
          <a:ln w="10160">
            <a:solidFill>
              <a:srgbClr val="2433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fter-careai-gr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1" y="1890522"/>
            <a:ext cx="5230368" cy="32689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68680" y="1700784"/>
            <a:ext cx="1143000" cy="329184"/>
          </a:xfrm>
          <a:prstGeom prst="roundRect">
            <a:avLst/>
          </a:prstGeom>
          <a:solidFill>
            <a:srgbClr val="F43F5E"/>
          </a:solidFill>
          <a:ln w="1016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700784"/>
            <a:ext cx="1143000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08111F"/>
                </a:solidFill>
                <a:latin typeface="PingFang SC"/>
              </a:rPr>
              <a:t>修改前</a:t>
            </a:r>
            <a:endParaRPr sz="1100" b="1">
              <a:solidFill>
                <a:srgbClr val="08111F"/>
              </a:solidFill>
              <a:latin typeface="PingFang SC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501384" y="1700784"/>
            <a:ext cx="1143000" cy="329184"/>
          </a:xfrm>
          <a:prstGeom prst="roundRect">
            <a:avLst/>
          </a:prstGeom>
          <a:solidFill>
            <a:srgbClr val="10B981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4" y="1700784"/>
            <a:ext cx="1143000" cy="329184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08111F"/>
                </a:solidFill>
                <a:latin typeface="PingFang SC"/>
              </a:rPr>
              <a:t>修改后</a:t>
            </a:r>
            <a:endParaRPr sz="1100" b="1">
              <a:solidFill>
                <a:srgbClr val="08111F"/>
              </a:solidFill>
              <a:latin typeface="PingFang SC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8368" y="5623560"/>
            <a:ext cx="10863072" cy="612648"/>
          </a:xfrm>
          <a:prstGeom prst="roundRect">
            <a:avLst/>
          </a:prstGeom>
          <a:solidFill>
            <a:srgbClr val="0E2030"/>
          </a:solidFill>
          <a:ln w="101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5806440"/>
            <a:ext cx="10497312" cy="256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/>
            <a:r>
              <a:rPr sz="1320" b="1">
                <a:solidFill>
                  <a:srgbClr val="F4F7FB"/>
                </a:solidFill>
                <a:latin typeface="PingFang SC"/>
              </a:rPr>
              <a:t>CareAI 的竞争价值更清楚；VentureAI 的每个结论也能回到材料、版本、run_id 与人工判断。</a:t>
            </a:r>
            <a:endParaRPr sz="1320" b="1">
              <a:solidFill>
                <a:srgbClr val="F4F7FB"/>
              </a:solidFill>
              <a:latin typeface="PingFang SC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2143</Words>
  <Application>WPS Docs</Application>
  <PresentationFormat>On-screen Show (4:3)</PresentationFormat>
  <Paragraphs>312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2" baseType="lpstr">
      <vt:lpstr>Arial</vt:lpstr>
      <vt:lpstr>SimSun</vt:lpstr>
      <vt:lpstr>Wingdings</vt:lpstr>
      <vt:lpstr>Arial</vt:lpstr>
      <vt:lpstr>PingFang SC</vt:lpstr>
      <vt:lpstr>Thonburi</vt:lpstr>
      <vt:lpstr>Calibri</vt:lpstr>
      <vt:lpstr>Helvetica Neue</vt:lpstr>
      <vt:lpstr>SimSun</vt:lpstr>
      <vt:lpstr>宋体-简</vt:lpstr>
      <vt:lpstr>Microsoft YaHei</vt:lpstr>
      <vt:lpstr>汉仪旗黑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为什么选择 CareAI，以及 VentureAI 修改前后</dc:title>
  <dc:creator>VentureAI 项目组</dc:creator>
  <dc:description>generated using python-pptx</dc:description>
  <dc:subject>CareAI 与蚂蚁阿福竞争比较；VentureAI 全部关键改进</dc:subject>
  <cp:lastModifiedBy>yap how chien</cp:lastModifiedBy>
  <cp:revision>2</cp:revision>
  <dcterms:created xsi:type="dcterms:W3CDTF">2026-09-15T14:24:30Z</dcterms:created>
  <dcterms:modified xsi:type="dcterms:W3CDTF">2026-09-15T14:24:30Z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90B736D01C133DC91E55A96A67DD1332_43</vt:lpwstr>
  </property>
  <property fmtid="{D5CDD505-2E9C-101B-9397-08002B2CF9AE}" pid="3" name="KSOProductBuildVer">
    <vt:lpwstr>1033-12.1.25880.25880</vt:lpwstr>
  </property>
</Properties>
</file>