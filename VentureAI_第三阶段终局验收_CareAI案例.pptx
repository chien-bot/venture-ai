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pps.apple.com/cn/app/id6743828427" TargetMode="External"/><Relationship Id="rId3" Type="http://schemas.openxmlformats.org/officeDocument/2006/relationships/hyperlink" Target="https://paper.people.com.cn/rmrb/pc/content/202512/16/content_30124850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658368"/>
            <a:ext cx="1417320" cy="365760"/>
          </a:xfrm>
          <a:prstGeom prst="round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4173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08111F"/>
                </a:solidFill>
                <a:latin typeface="PingFang SC"/>
              </a:rPr>
              <a:t>10-SLIDE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7360920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F4F7FB"/>
                </a:solidFill>
                <a:latin typeface="PingFang SC"/>
              </a:rPr>
              <a:t>为什么选择 CareAI，
以及 VentureAI 改了什么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3291840"/>
            <a:ext cx="6858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2D3EE"/>
                </a:solidFill>
                <a:latin typeface="PingFang SC"/>
              </a:rPr>
              <a:t>竞品：蚂蚁阿福  ·  证据：修改前后真实截图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803904"/>
            <a:ext cx="45720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9FB0C7"/>
                </a:solidFill>
                <a:latin typeface="PingFang SC"/>
              </a:rPr>
              <a:t>第三阶段终局验收精简版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841248"/>
            <a:ext cx="3200400" cy="516636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325880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719072"/>
            <a:ext cx="2194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4F7FB"/>
                </a:solidFill>
                <a:latin typeface="PingFang SC"/>
              </a:rPr>
              <a:t>CareAI × 阿福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331720"/>
            <a:ext cx="219456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9FB0C7"/>
                </a:solidFill>
                <a:latin typeface="PingFang SC"/>
              </a:rPr>
              <a:t>直接竞争比较
优势与选择条件
公平验证方案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3822191"/>
            <a:ext cx="2331720" cy="54864"/>
          </a:xfrm>
          <a:prstGeom prst="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4160520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PingFang SC"/>
              </a:rPr>
              <a:t>PART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4553712"/>
            <a:ext cx="2423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4F7FB"/>
                </a:solidFill>
                <a:latin typeface="PingFang SC"/>
              </a:rPr>
              <a:t>VentureAI 前 × 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5074920"/>
            <a:ext cx="21945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9FB0C7"/>
                </a:solidFill>
                <a:latin typeface="PingFang SC"/>
              </a:rPr>
              <a:t>全部关键变化
四张真实截图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第三阶段终局验收 · 2026-09-15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选择 CareAI 的理由：更聚焦、更可解释、更可控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它不以功能数量击败阿福，而是服务一类明确的使用偏好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63072" cy="1097280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470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PingFang SC"/>
              </a:rPr>
              <a:t>目标用户选择条件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773936"/>
            <a:ext cx="81381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F4F7FB"/>
                </a:solidFill>
                <a:latin typeface="PingFang SC"/>
              </a:rPr>
              <a:t>希望快速理解基础指标、看清判断依据，并马上获得低风险行动计划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17520"/>
            <a:ext cx="5230368" cy="1115568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9536" y="3200400"/>
            <a:ext cx="420624" cy="420624"/>
          </a:xfrm>
          <a:prstGeom prst="round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200400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08111F"/>
                </a:solidFill>
                <a:latin typeface="PingFang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3200400"/>
            <a:ext cx="4297679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7FB"/>
                </a:solidFill>
                <a:latin typeface="PingFang SC"/>
              </a:rPr>
              <a:t>规则先于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730752"/>
            <a:ext cx="477316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9FB0C7"/>
                </a:solidFill>
                <a:latin typeface="PingFang SC"/>
              </a:rPr>
              <a:t>关键关注等级由确定性规则产生，AI 负责解释；更容易复核。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3017520"/>
            <a:ext cx="5230368" cy="1115568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3200400"/>
            <a:ext cx="420624" cy="420624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3200400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08111F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3200400"/>
            <a:ext cx="4297679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7FB"/>
                </a:solidFill>
                <a:latin typeface="PingFang SC"/>
              </a:rPr>
              <a:t>边界直接可见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730752"/>
            <a:ext cx="477316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9FB0C7"/>
                </a:solidFill>
                <a:latin typeface="PingFang SC"/>
              </a:rPr>
              <a:t>持续强调非诊断定位、适用范围和线下就医提示。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89120"/>
            <a:ext cx="5230368" cy="1115568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" y="4572000"/>
            <a:ext cx="420624" cy="420624"/>
          </a:xfrm>
          <a:prstGeom prst="roundRect">
            <a:avLst/>
          </a:prstGeom>
          <a:solidFill>
            <a:srgbClr val="6366F1"/>
          </a:solidFill>
          <a:ln w="1016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72000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08111F"/>
                </a:solidFill>
                <a:latin typeface="PingFang S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4572000"/>
            <a:ext cx="4297679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7FB"/>
                </a:solidFill>
                <a:latin typeface="PingFang SC"/>
              </a:rPr>
              <a:t>行动输出固定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102352"/>
            <a:ext cx="477316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9FB0C7"/>
                </a:solidFill>
                <a:latin typeface="PingFang SC"/>
              </a:rPr>
              <a:t>从指标到原因、建议和 7 天计划，减少“看完不知道做什么”。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4389120"/>
            <a:ext cx="5230368" cy="1115568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5936" y="4572000"/>
            <a:ext cx="420624" cy="420624"/>
          </a:xfrm>
          <a:prstGeom prst="round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572000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08111F"/>
                </a:solidFill>
                <a:latin typeface="PingFang S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6" y="4572000"/>
            <a:ext cx="4297679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7FB"/>
                </a:solidFill>
                <a:latin typeface="PingFang SC"/>
              </a:rPr>
              <a:t>产品更轻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5102352"/>
            <a:ext cx="477316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9FB0C7"/>
                </a:solidFill>
                <a:latin typeface="PingFang SC"/>
              </a:rPr>
              <a:t>聚焦成年人基础健康教育，不把医疗服务生态全部塞进一次体验。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870448"/>
            <a:ext cx="10698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PingFang SC"/>
              </a:rPr>
              <a:t>竞争主张：CareAI 的优势是“透明且专注的组合体验”，不是阿福缺少档案或习惯目标。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CareAI 与蚂蚁阿福：直接竞品对照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阿福规模与生态更强；CareAI 争夺的是可解释、低复杂度的细分体验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2560320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655064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9FB0C7"/>
                </a:solidFill>
                <a:latin typeface="PingFang SC"/>
              </a:rPr>
              <a:t>维度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08760"/>
            <a:ext cx="3767328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55064"/>
            <a:ext cx="34930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CareAI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4927" y="1508760"/>
            <a:ext cx="4096512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2088" y="1655064"/>
            <a:ext cx="382219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PingFang SC"/>
              </a:rPr>
              <a:t>蚂蚁阿福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9397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6712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核心选择理由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09397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16712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轻量、解释透明、规则可追溯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4927" y="209397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16712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完整生态、服务连接、品牌与规模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68833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6148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健康档案/习惯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68833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276148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基础记录 + 7天行动计划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4927" y="268833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76148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个人/家庭档案 + 健康小目标与提醒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28269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35584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AI 使用方式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328269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47872" y="335584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规则给结论，受限 AI 做解释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4927" y="328269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35584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健康咨询、报告解读与个性化服务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87705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95020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服务边界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29000" y="387705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395020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非诊断健康教育与习惯管理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24927" y="387705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395020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可连接挂号、云陪诊等医疗健康服务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447141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54456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当前短板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0" y="447141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47872" y="454456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无真实用户、留存与付费证据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24927" y="447141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454456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具体体验效果仍须同条件实测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6577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138928"/>
            <a:ext cx="232257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更适合谁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29000" y="506577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47872" y="5138928"/>
            <a:ext cx="3529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看重简单、透明、可复核的用户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24927" y="506577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5138928"/>
            <a:ext cx="3858768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需要家庭档案和医疗服务生态的用户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5815584"/>
            <a:ext cx="2971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 u="sng">
                <a:solidFill>
                  <a:srgbClr val="9FB0C7"/>
                </a:solidFill>
                <a:latin typeface="PingFang SC"/>
                <a:hlinkClick r:id="rId2"/>
              </a:rPr>
              <a:t>来源1：蚂蚁阿福 App Store 产品页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4760" y="5815584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 u="sng">
                <a:solidFill>
                  <a:srgbClr val="9FB0C7"/>
                </a:solidFill>
                <a:latin typeface="PingFang SC"/>
                <a:hlinkClick r:id="rId3"/>
              </a:rPr>
              <a:t>来源2：人民日报（数据来源：蚂蚁集团）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5815584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50" b="0">
                <a:solidFill>
                  <a:srgbClr val="9FB0C7"/>
                </a:solidFill>
                <a:latin typeface="PingFang SC"/>
              </a:rPr>
              <a:t>核对：2026-09-15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CareAI 的五项竞争优势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这些优势来自当前实现；用户是否在意，仍须通过对照测试验证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1938528" cy="329184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47088"/>
            <a:ext cx="594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PingFang SC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14016"/>
            <a:ext cx="1554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4F7FB"/>
                </a:solidFill>
                <a:latin typeface="PingFang SC"/>
              </a:rPr>
              <a:t>确定性规则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246120"/>
            <a:ext cx="1517904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9FB0C7"/>
                </a:solidFill>
                <a:latin typeface="PingFang SC"/>
              </a:rPr>
              <a:t>BMI、睡眠、运动等关注等级可复现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1600200"/>
            <a:ext cx="1938528" cy="329184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54096" y="1847088"/>
            <a:ext cx="594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PingFang SC"/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414016"/>
            <a:ext cx="1554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4F7FB"/>
                </a:solidFill>
                <a:latin typeface="PingFang SC"/>
              </a:rPr>
              <a:t>受限生成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246120"/>
            <a:ext cx="1517904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9FB0C7"/>
                </a:solidFill>
                <a:latin typeface="PingFang SC"/>
              </a:rPr>
              <a:t>AI 不能自行升级成诊断、处方或治疗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7488" y="1600200"/>
            <a:ext cx="1938528" cy="329184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5" y="1847088"/>
            <a:ext cx="594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PingFang SC"/>
              </a:rPr>
              <a:t>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5" y="2414016"/>
            <a:ext cx="1554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4F7FB"/>
                </a:solidFill>
                <a:latin typeface="PingFang SC"/>
              </a:rPr>
              <a:t>可解释链路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8655" y="3246120"/>
            <a:ext cx="1517904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9FB0C7"/>
                </a:solidFill>
                <a:latin typeface="PingFang SC"/>
              </a:rPr>
              <a:t>输入 → 规则 → 提示 → 建议 → 7天计划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2047" y="1600200"/>
            <a:ext cx="1938528" cy="329184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5" y="1847088"/>
            <a:ext cx="594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PingFang SC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5" y="2414016"/>
            <a:ext cx="1554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4F7FB"/>
                </a:solidFill>
                <a:latin typeface="PingFang SC"/>
              </a:rPr>
              <a:t>低认知负担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5" y="3246120"/>
            <a:ext cx="1517904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9FB0C7"/>
                </a:solidFill>
                <a:latin typeface="PingFang SC"/>
              </a:rPr>
              <a:t>一次体验围绕“理解与行动”，入口更聚焦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6608" y="1600200"/>
            <a:ext cx="1938528" cy="329184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37776" y="1847088"/>
            <a:ext cx="594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PingFang SC"/>
              </a:rPr>
              <a:t>A5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2414016"/>
            <a:ext cx="1554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4F7FB"/>
                </a:solidFill>
                <a:latin typeface="PingFang SC"/>
              </a:rPr>
              <a:t>工程透明度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7776" y="3246120"/>
            <a:ext cx="1517904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9FB0C7"/>
                </a:solidFill>
                <a:latin typeface="PingFang SC"/>
              </a:rPr>
              <a:t>规则版本、失败、输出结构可检查和测试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21808"/>
            <a:ext cx="10716768" cy="658368"/>
          </a:xfrm>
          <a:prstGeom prst="roundRect">
            <a:avLst/>
          </a:prstGeom>
          <a:solidFill>
            <a:srgbClr val="2A2112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504688"/>
            <a:ext cx="10332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F59E0B"/>
                </a:solidFill>
                <a:latin typeface="PingFang SC"/>
              </a:rPr>
              <a:t>真正的护城河不是“也能生成建议”，而是每个建议都能说明从哪里来、为什么安全、下一步怎么做。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怎样证明 CareAI 真的比阿福更适合这类用户？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用同一份 S（模拟）资料完成同一任务，避免功能不对等和真实健康数据风险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971032" cy="414223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ter-careai-compet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27644"/>
            <a:ext cx="5897880" cy="36861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03720" y="1536192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755648"/>
            <a:ext cx="411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1691639"/>
            <a:ext cx="914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同资料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072" y="1700784"/>
            <a:ext cx="2468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相同虚构用户资料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2569463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788920"/>
            <a:ext cx="411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2672" y="2724911"/>
            <a:ext cx="914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734056"/>
            <a:ext cx="2468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找解释、行动和边界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3602735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4032" y="3822191"/>
            <a:ext cx="411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2672" y="3758183"/>
            <a:ext cx="914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换顺序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3767327"/>
            <a:ext cx="2468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抵消先后使用偏差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4636007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4855464"/>
            <a:ext cx="411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2" y="4791455"/>
            <a:ext cx="914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同指标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4800599"/>
            <a:ext cx="2468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完成、耗时、理解、清晰度、偏好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715000"/>
            <a:ext cx="4434840" cy="411480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8312" y="5806440"/>
            <a:ext cx="40965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4F7FB"/>
                </a:solidFill>
                <a:latin typeface="PingFang SC"/>
              </a:rPr>
              <a:t>胜出条件：理解与行动指标更好，且边界误解不增加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修改前：八类问题会破坏验收可信度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这些问题由同一份 CareAI 项目书、同一组任务实际触发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673351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43F5E"/>
                </a:solidFill>
                <a:latin typeface="PingFang SC"/>
              </a:rP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1655063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事实幻觉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7" y="1645919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把项目改成心理筛查；补造 NLP、访谈、团队与收入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51790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73351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43F5E"/>
                </a:solidFill>
                <a:latin typeface="PingFang SC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1655063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匿名读取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1645919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未登录可读项目列表、详情和会话历史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633472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788920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5" y="2770632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文件截断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7" y="2761488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上传正文只取前2000字，关键边界进入不了模型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633472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88920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2770632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错误记忆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2761488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用户纠正后仍沿用上一轮 AI 的错误设定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49039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904487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895" y="388620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评分脱证据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2887" y="3877055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R1—R11 有分数，但部分依据无法回到材料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749039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904487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388620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竞品失真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3877055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把两款产品都当心理筛查，自定30人和错误指标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6460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5020056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5001768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交互过载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32887" y="4992624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只问一个问题时仍生成多任务清单；长等待无进度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486460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5020056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0296" y="5001768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界面误导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4992624"/>
            <a:ext cx="3108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未评分显示五维0分；规则误报和无关案例增加噪声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607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43F5E"/>
                </a:solidFill>
                <a:latin typeface="PingFang SC"/>
              </a:rPr>
              <a:t>后果：项目建议、竞品分析、评分和验收都可能建立在错误事实上。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修改后（1/2）：回答内容变得可信、可执行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模型层、提示词层和交互层同时修复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1874519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618488"/>
            <a:ext cx="1618487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9FB0C7"/>
                </a:solidFill>
                <a:latin typeface="PingFang SC"/>
              </a:rPr>
              <a:t>变化项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481328"/>
            <a:ext cx="3794760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1216" y="1618488"/>
            <a:ext cx="3538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F43F5E"/>
                </a:solidFill>
                <a:latin typeface="PingFang SC"/>
              </a:rPr>
              <a:t>修改前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481328"/>
            <a:ext cx="4754880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576" y="1618488"/>
            <a:ext cx="44988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B981"/>
                </a:solidFill>
                <a:latin typeface="PingFang SC"/>
              </a:rPr>
              <a:t>修改后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20824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084831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文件进入模型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020824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2928" y="2084831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前2000字且节点未完整读取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020824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2084831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最新正文 + 关键证据索引进入实际模型消息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560320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624327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事实优先级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2928" y="2624327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历史 AI 推断继续传播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2560320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6288" y="2624327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用户/文件事实优先；冲突时撤销旧推断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099815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163823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项目定位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099815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2928" y="3163823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心理筛查、NLP、访谈等幻觉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3099815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3163823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准确复述非诊断定位、MVP与未验证项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639312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703320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医疗边界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639312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52928" y="3703320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慢性病发现可被写成普通假设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3639312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6288" y="3703320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临床依据不足时禁止当产品主张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4178808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42816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竞品比较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178808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2928" y="4242816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不对等任务、虚构竞品能力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4178808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76288" y="4242816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同资料、同任务、同指标；未知项写未找到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718304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82312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R1—R11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4718304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52928" y="4782312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分数与正文脱节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60" y="4718304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76288" y="4782312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逐项显示依据、缺口和下一步，返回完整结构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5257800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" y="5321808"/>
            <a:ext cx="1655063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19" b="1">
                <a:solidFill>
                  <a:srgbClr val="9FB0C7"/>
                </a:solidFill>
                <a:latin typeface="PingFang SC"/>
              </a:rPr>
              <a:t>对话方式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5257800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52928" y="5321808"/>
            <a:ext cx="357530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一个问题变成多项作业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66560" y="5257800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76288" y="5321808"/>
            <a:ext cx="4535424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首轮只保留一个下一步问题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5943600"/>
            <a:ext cx="10863072" cy="274320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修改后（2/2）：系统层形成完整证据闭环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数据库、权限、版本和产品门槛共同保证结果可审计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2103" y="1691639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36776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安全权限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1627631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项目、会话、上传、工具、知识与图谱均需身份和项目/班级权限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508760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18504" y="1691639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636776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注册边界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1627631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公开注册只能创建学生；教师和管理员必须授权配置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62432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3" y="2807208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752344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运行追踪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712" y="2743200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保存 run_id、版本、Git、模型、代码/提示词哈希、状态和时间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62432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18504" y="2807208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752344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失败与等待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2743200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失败运行仍留痕；长流式任务发送“正在核对”进度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39896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3" y="3922776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867911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材料上传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7712" y="3858768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新增 DOCX/PPTX 提取；报告文档实测读取13,430字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739896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18504" y="3922776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67911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Agent草稿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3858768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草稿不能当正式成果；必须由学生核验并提交新版本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5546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3" y="5038344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983480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第三阶段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67712" y="4974336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G1—G6、六类材料、F1/F2/F3、F/I/H/S、D1—D9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485546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18504" y="5038344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59" y="4983480"/>
            <a:ext cx="11704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评分验收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74336"/>
            <a:ext cx="3383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项目/Agent/答辩三表；版本变化使旧评分失效；支持排名与导出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43600"/>
            <a:ext cx="10863072" cy="310896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5989320"/>
            <a:ext cx="104973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8111F"/>
                </a:solidFill>
                <a:latin typeface="PingFang SC"/>
              </a:rPr>
              <a:t>验证：15项后端测试通过 · TypeScript通过 · 生产构建通过 · V2版本已冻结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真实截图｜教练流程：从错误项目画像到证据优先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同一 CareAI 项目书、同一核心问题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303520" cy="423367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careai-c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" y="1981961"/>
            <a:ext cx="5230368" cy="32689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54496" y="1499616"/>
            <a:ext cx="5303520" cy="423367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fter-careai-co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1" y="1981961"/>
            <a:ext cx="5230368" cy="32689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700784"/>
            <a:ext cx="1143000" cy="329184"/>
          </a:xfrm>
          <a:prstGeom prst="roundRect">
            <a:avLst/>
          </a:prstGeom>
          <a:solidFill>
            <a:srgbClr val="F43F5E"/>
          </a:solidFill>
          <a:ln w="101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00784"/>
            <a:ext cx="11430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1384" y="1700784"/>
            <a:ext cx="1143000" cy="329184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700784"/>
            <a:ext cx="11430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06440"/>
            <a:ext cx="10863072" cy="393192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897880"/>
            <a:ext cx="104973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1">
                <a:solidFill>
                  <a:srgbClr val="F4F7FB"/>
                </a:solidFill>
                <a:latin typeface="PingFang SC"/>
              </a:rPr>
              <a:t>前：心理筛查 / NLP / 已访谈  →  后：非诊断健康教育 / 规则与AI分层 / 明确未验证项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真实截图｜评分流程：从“只有分数”到“可定位修改”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修改后按 R1—R11 显示材料依据、证据缺口和下一步建议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303520" cy="4050791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careai-gr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" y="1890522"/>
            <a:ext cx="5230368" cy="32689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54496" y="1499616"/>
            <a:ext cx="5303520" cy="4050791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fter-careai-gr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1" y="1890522"/>
            <a:ext cx="5230368" cy="32689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700784"/>
            <a:ext cx="1143000" cy="329184"/>
          </a:xfrm>
          <a:prstGeom prst="roundRect">
            <a:avLst/>
          </a:prstGeom>
          <a:solidFill>
            <a:srgbClr val="F43F5E"/>
          </a:solidFill>
          <a:ln w="101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00784"/>
            <a:ext cx="11430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1384" y="1700784"/>
            <a:ext cx="1143000" cy="329184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700784"/>
            <a:ext cx="11430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623560"/>
            <a:ext cx="10863072" cy="612648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806440"/>
            <a:ext cx="104973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20" b="1">
                <a:solidFill>
                  <a:srgbClr val="F4F7FB"/>
                </a:solidFill>
                <a:latin typeface="PingFang SC"/>
              </a:rPr>
              <a:t>CareAI 的竞争价值更清楚；VentureAI 的每个结论也能回到材料、版本、run_id 与人工判断。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为什么选择 CareAI，以及 VentureAI 修改前后</dc:title>
  <dc:subject>CareAI 与蚂蚁阿福竞争比较；VentureAI 全部关键改进</dc:subject>
  <dc:creator>VentureAI 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