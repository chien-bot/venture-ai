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s.apple.com/cn/app/id6743828427" TargetMode="External"/><Relationship Id="rId3" Type="http://schemas.openxmlformats.org/officeDocument/2006/relationships/hyperlink" Target="https://paper.people.com.cn/rmrb/pc/content/202512/16/content_30124850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21792"/>
            <a:ext cx="1280160" cy="365760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2801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8111F"/>
                </a:solidFill>
                <a:latin typeface="PingFang SC"/>
              </a:rPr>
              <a:t>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658368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4F7FB"/>
                </a:solidFill>
                <a:latin typeface="PingFang SC"/>
              </a:rPr>
              <a:t>第三阶段综合应用
与终局验收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154680"/>
            <a:ext cx="6126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PingFang SC"/>
              </a:rPr>
              <a:t>以 CareAI 为测试案例验证 VentureAI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639312"/>
            <a:ext cx="6583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FB0C7"/>
                </a:solidFill>
                <a:latin typeface="PingFang SC"/>
              </a:rPr>
              <a:t>验收标准 · 竞品比较 · 修改前后证据 · 最终结论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804672"/>
            <a:ext cx="3611880" cy="534924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234440"/>
            <a:ext cx="2560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证据链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874519"/>
            <a:ext cx="1234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PingFang SC"/>
              </a:rPr>
              <a:t>G1—G6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892807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立项闯关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9952" y="2267712"/>
            <a:ext cx="54864" cy="256032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24327"/>
            <a:ext cx="1234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PingFang SC"/>
              </a:rPr>
              <a:t>F1 / F2 / F3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642615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三流程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9952" y="3017520"/>
            <a:ext cx="54864" cy="256032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374135"/>
            <a:ext cx="1234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PingFang SC"/>
              </a:rPr>
              <a:t>100 + 100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392423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双门槛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59952" y="3767327"/>
            <a:ext cx="54864" cy="256032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4123944"/>
            <a:ext cx="1234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PingFang SC"/>
              </a:rPr>
              <a:t>D1—D9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4142231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版本推进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59952" y="4517136"/>
            <a:ext cx="54864" cy="256032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873752"/>
            <a:ext cx="1234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PingFang SC"/>
              </a:rPr>
              <a:t>F / I / H /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4892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证据边界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VentureAI V2 · CareAI 验收案例 · 2026-09-15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先给结论：从“会回答”升级为“可验收”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第三阶段关注可信过程，而不是生成材料的长度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520440" cy="19202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783080"/>
            <a:ext cx="420624" cy="420624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83080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83080"/>
            <a:ext cx="2587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功能闭环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13432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立项 → 材料 → Agent 使用 → 独立评分 → 排名/答辩 → 终局结论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600200"/>
            <a:ext cx="3520440" cy="19202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35424" y="1783080"/>
            <a:ext cx="420624" cy="42062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783080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1783080"/>
            <a:ext cx="2587751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CareAI 流程证据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313432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ready = true；缺项 = 0；F1/F2/F3 全覆盖；7 条材料版本；4 条 Agent 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600200"/>
            <a:ext cx="3520440" cy="19202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783080"/>
            <a:ext cx="420624" cy="420624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783080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783080"/>
            <a:ext cx="2587751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证据边界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313432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项目分 68、Agent 分 71、教师判断与 D1—D9 均标为 S（模拟），不冒充真实课程成绩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86200"/>
            <a:ext cx="10872216" cy="169164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8795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PingFang SC"/>
              </a:rPr>
              <a:t>最终判定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08576"/>
            <a:ext cx="54864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4F7FB"/>
                </a:solidFill>
                <a:latin typeface="PingFang SC"/>
              </a:rPr>
              <a:t>VentureAI 第三阶段功能与证据机制：完成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62272"/>
            <a:ext cx="45262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PingFang SC"/>
              </a:rPr>
              <a:t>CareAI 真实课程终局验收：仍须学生真实材料 + 任课教师复审 + 现场答辩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终局验收不是一个分数，而是一条不可跳过的链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任何关键节点失败，都不能由其他高分补偿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874519" cy="233172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066543"/>
            <a:ext cx="512064" cy="51206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66543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8111F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16352"/>
            <a:ext cx="15361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立项闯关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73552"/>
            <a:ext cx="15361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G1—G6 全达标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7" y="2743200"/>
            <a:ext cx="32918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5" y="1874519"/>
            <a:ext cx="1874519" cy="233172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35808" y="2066543"/>
            <a:ext cx="512064" cy="51206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066543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8111F"/>
                </a:solidFill>
                <a:latin typeface="PingFang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816352"/>
            <a:ext cx="15361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材料成套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273552"/>
            <a:ext cx="15361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计划书/PPT/讲稿/问答/总结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743200"/>
            <a:ext cx="32918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874519"/>
            <a:ext cx="1874519" cy="233172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8655" y="2066543"/>
            <a:ext cx="512064" cy="51206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5" y="2066543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8111F"/>
                </a:solidFill>
                <a:latin typeface="PingFang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5" y="2816352"/>
            <a:ext cx="15361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三流程证据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5" y="3273552"/>
            <a:ext cx="15361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F1/F2/F3 有真实 run_id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3" y="2743200"/>
            <a:ext cx="32918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1874519"/>
            <a:ext cx="1874519" cy="233172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61504" y="2066543"/>
            <a:ext cx="512064" cy="51206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2066543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8111F"/>
                </a:solidFill>
                <a:latin typeface="PingFang S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2816352"/>
            <a:ext cx="15361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双门槛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273552"/>
            <a:ext cx="15361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项目与 Agent 各 ≥60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2743200"/>
            <a:ext cx="32918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1874519"/>
            <a:ext cx="1874519" cy="233172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74352" y="2066543"/>
            <a:ext cx="512064" cy="512064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4352" y="2066543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8111F"/>
                </a:solidFill>
                <a:latin typeface="PingFang SC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2816352"/>
            <a:ext cx="15361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终局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3273552"/>
            <a:ext cx="15361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完整、无红线、教师确认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700016"/>
            <a:ext cx="10872216" cy="868680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46904"/>
            <a:ext cx="10287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PingFang SC"/>
              </a:rPr>
              <a:t>关键规则：立项更新、计划书更新后，旧评分和旧终局结论自动失效，必须按当前版本重新验收。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G1—G6：先证明项目值得做，再进入正式材料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教师逐项判断；学生更新立项书后，旧版通过自动失效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56432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" y="1801368"/>
            <a:ext cx="73152" cy="320040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55648"/>
            <a:ext cx="283463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G1  问题具体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8600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用户、场景、问题可识别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456432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62856" y="1801368"/>
            <a:ext cx="73152" cy="320040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1755648"/>
            <a:ext cx="283463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G2  证据成立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来源可查，结论不过度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572768"/>
            <a:ext cx="3456432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1801368"/>
            <a:ext cx="73152" cy="320040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755648"/>
            <a:ext cx="283463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G3  边界透明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28600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F/I/H/S 标注完整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74720"/>
            <a:ext cx="3456432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" y="3703320"/>
            <a:ext cx="73152" cy="32004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57600"/>
            <a:ext cx="283463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G4  方案匹配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187952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回应问题并说明边界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474720"/>
            <a:ext cx="3456432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62856" y="3703320"/>
            <a:ext cx="73152" cy="32004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3657600"/>
            <a:ext cx="283463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G5  价值可行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87952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社会价值、创新、实施路径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3474720"/>
            <a:ext cx="3456432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3703320"/>
            <a:ext cx="73152" cy="32004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3657600"/>
            <a:ext cx="283463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G6  Agent 可追溯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187952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PingFang SC"/>
              </a:rPr>
              <a:t>V2 参与且运行可定位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04688"/>
            <a:ext cx="10872216" cy="566928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60136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PingFang SC"/>
              </a:rPr>
              <a:t>再审要求：上一版 → 教师反馈 → 具体修改 → 验证结果；只换措辞不算有效修改。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提交物必须成套、同源、同版本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系统同时检查“有没有”和“是否绑定当前版本”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91056"/>
            <a:ext cx="3456432" cy="148132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773936"/>
            <a:ext cx="420624" cy="42062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73936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73936"/>
            <a:ext cx="252374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立项书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04288"/>
            <a:ext cx="299923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9FB0C7"/>
                </a:solidFill>
                <a:latin typeface="PingFang SC"/>
              </a:rPr>
              <a:t>通过版 + 历次反馈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91056"/>
            <a:ext cx="3456432" cy="148132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4568" y="1773936"/>
            <a:ext cx="420624" cy="42062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73936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1773936"/>
            <a:ext cx="252374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商业计划书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04288"/>
            <a:ext cx="299923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9FB0C7"/>
                </a:solidFill>
                <a:latin typeface="PingFang SC"/>
              </a:rPr>
              <a:t>12章；关键数字可回溯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91056"/>
            <a:ext cx="3456432" cy="148132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773936"/>
            <a:ext cx="420624" cy="42062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73936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773936"/>
            <a:ext cx="252374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路演 PPT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304288"/>
            <a:ext cx="299923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9FB0C7"/>
                </a:solidFill>
                <a:latin typeface="PingFang SC"/>
              </a:rPr>
              <a:t>建议12—16页；与计划书一致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19856"/>
            <a:ext cx="3456432" cy="148132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" y="3602736"/>
            <a:ext cx="420624" cy="420624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602736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3602736"/>
            <a:ext cx="252374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10分钟讲稿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133088"/>
            <a:ext cx="299923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9FB0C7"/>
                </a:solidFill>
                <a:latin typeface="PingFang SC"/>
              </a:rPr>
              <a:t>保存实际计时，≤600秒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19856"/>
            <a:ext cx="3456432" cy="148132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44568" y="3602736"/>
            <a:ext cx="420624" cy="420624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602736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208" y="3602736"/>
            <a:ext cx="252374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5分钟问答库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133088"/>
            <a:ext cx="299923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9FB0C7"/>
                </a:solidFill>
                <a:latin typeface="PingFang SC"/>
              </a:rPr>
              <a:t>≥10个高风险问题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3419856"/>
            <a:ext cx="3456432" cy="148132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0" y="3602736"/>
            <a:ext cx="420624" cy="42062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602736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602736"/>
            <a:ext cx="252374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阶段总结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4133088"/>
            <a:ext cx="299923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9FB0C7"/>
                </a:solidFill>
                <a:latin typeface="PingFang SC"/>
              </a:rPr>
              <a:t>成果、Agent贡献、局限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440680"/>
            <a:ext cx="10872216" cy="658368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623560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F4F7FB"/>
                </a:solidFill>
                <a:latin typeface="PingFang SC"/>
              </a:rPr>
              <a:t>Agent 生成只能保存为草稿；必须由学生核验、修改并以 student 版本提交，才算正式材料。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F1 / F2 / F3：证明 Agent 确实参与并产生作用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每条记录同时保存任务、输入版本、处理理由、结果版本、证据位置与效果判断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3456432" cy="31546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822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PingFang SC"/>
              </a:rP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1892807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理论学习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06040"/>
            <a:ext cx="2880360" cy="1508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Tutor 运行</a:t>
            </a:r>
          </a:p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理解检查</a:t>
            </a:r>
          </a:p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错误与纠正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27632"/>
            <a:ext cx="3456432" cy="31546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47088"/>
            <a:ext cx="822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6366F1"/>
                </a:solidFill>
                <a:latin typeface="PingFang SC"/>
              </a:rPr>
              <a:t>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892807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项目指导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40"/>
            <a:ext cx="2880360" cy="1508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Coach/竞品/答辩运行</a:t>
            </a:r>
          </a:p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采纳·拒绝·重写·补充</a:t>
            </a:r>
          </a:p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映射成果版本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627632"/>
            <a:ext cx="3456432" cy="31546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847088"/>
            <a:ext cx="822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PingFang SC"/>
              </a:rPr>
              <a:t>F3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892807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评审反馈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606040"/>
            <a:ext cx="2880360" cy="1508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Grader 初评</a:t>
            </a:r>
          </a:p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定位问题并修改</a:t>
            </a:r>
          </a:p>
          <a:p>
            <a:pPr>
              <a:spcAft>
                <a:spcPts val="10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另一 run 复验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093208"/>
            <a:ext cx="10872216" cy="749808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12664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9FB0C7"/>
                </a:solidFill>
                <a:latin typeface="PingFang SC"/>
              </a:rPr>
              <a:t>可追溯字段：run_id · session · project · Agent版本 · Git提交 · 模型 · 代码/提示词哈希 · 状态 · 时间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评分与排序：门槛负责通过，排名负责区分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高总分不能补偿任一门槛低于60分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1965960" cy="20116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38528"/>
            <a:ext cx="19659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500" b="1">
                <a:solidFill>
                  <a:srgbClr val="22D3EE"/>
                </a:solidFill>
                <a:latin typeface="PingFang SC"/>
              </a:rPr>
              <a:t>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61488"/>
            <a:ext cx="16733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9FB0C7"/>
                </a:solidFill>
                <a:latin typeface="PingFang SC"/>
              </a:rPr>
              <a:t>项目成果 / 100
S（模拟）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1664208"/>
            <a:ext cx="1965960" cy="20116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938528"/>
            <a:ext cx="19659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500" b="1">
                <a:solidFill>
                  <a:srgbClr val="6366F1"/>
                </a:solidFill>
                <a:latin typeface="PingFang SC"/>
              </a:rPr>
              <a:t>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761488"/>
            <a:ext cx="16733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9FB0C7"/>
                </a:solidFill>
                <a:latin typeface="PingFang SC"/>
              </a:rPr>
              <a:t>Agent效果 / 100
S（模拟）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1664208"/>
            <a:ext cx="1965960" cy="20116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1938528"/>
            <a:ext cx="19659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500" b="1">
                <a:solidFill>
                  <a:srgbClr val="F59E0B"/>
                </a:solidFill>
                <a:latin typeface="PingFang SC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761488"/>
            <a:ext cx="16733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9FB0C7"/>
                </a:solidFill>
                <a:latin typeface="PingFang SC"/>
              </a:rPr>
              <a:t>现场答辩 / 100
教师现场录入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664208"/>
            <a:ext cx="3794760" cy="201168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938528"/>
            <a:ext cx="1051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D8 暂列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395728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4F7FB"/>
                </a:solidFill>
                <a:latin typeface="PingFang SC"/>
              </a:rPr>
              <a:t>(项目分 + Agent分) ÷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95351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9FB0C7"/>
                </a:solidFill>
                <a:latin typeface="PingFang SC"/>
              </a:rPr>
              <a:t>仅双门槛通过者进入；约前50%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69080"/>
            <a:ext cx="10680192" cy="135331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4370832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PingFang SC"/>
              </a:rPr>
              <a:t>D9 入围组最终排序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279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F4F7FB"/>
                </a:solidFill>
                <a:latin typeface="PingFang SC"/>
              </a:rPr>
              <a:t>项目分 + Agent分 + 答辩分 = 300分总成绩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07408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9FB0C7"/>
                </a:solidFill>
                <a:latin typeface="PingFang SC"/>
              </a:rPr>
              <a:t>仍由教师确认同分、材料和红线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CareAI 与蚂蚁阿福：先公平比较，再谈选择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阿福已有健康档案与健康小目标；不能靠贬低竞品建立差异化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2834640" cy="530352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09928"/>
            <a:ext cx="2542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9FB0C7"/>
                </a:solidFill>
                <a:latin typeface="PingFang SC"/>
              </a:rPr>
              <a:t>比较维度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554480"/>
            <a:ext cx="3703320" cy="530352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9624" y="1709928"/>
            <a:ext cx="34107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CareAI 当前证据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54480"/>
            <a:ext cx="3886200" cy="530352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1544" y="1709928"/>
            <a:ext cx="35935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PingFang SC"/>
              </a:rPr>
              <a:t>蚂蚁阿福公开信息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176272"/>
            <a:ext cx="283464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67712"/>
            <a:ext cx="257860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30" b="1">
                <a:solidFill>
                  <a:srgbClr val="9FB0C7"/>
                </a:solidFill>
                <a:latin typeface="PingFang SC"/>
              </a:rPr>
              <a:t>产品阶段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176272"/>
            <a:ext cx="370332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5" y="2267712"/>
            <a:ext cx="3447287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可演示 MVP；无真实用户/留存/付费证据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176272"/>
            <a:ext cx="388620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2267712"/>
            <a:ext cx="36301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已公开运营的健康 AI 应用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898648"/>
            <a:ext cx="2834640" cy="621792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990088"/>
            <a:ext cx="257860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30" b="1">
                <a:solidFill>
                  <a:srgbClr val="9FB0C7"/>
                </a:solidFill>
                <a:latin typeface="PingFang SC"/>
              </a:rPr>
              <a:t>档案与目标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2898648"/>
            <a:ext cx="3703320" cy="621792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1335" y="2990088"/>
            <a:ext cx="3447287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基础记录、规则提示、7天行动计划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2898648"/>
            <a:ext cx="3886200" cy="621792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63256" y="2990088"/>
            <a:ext cx="36301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个人/家庭健康档案、健康小目标与提醒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21024"/>
            <a:ext cx="283464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712463"/>
            <a:ext cx="257860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30" b="1">
                <a:solidFill>
                  <a:srgbClr val="9FB0C7"/>
                </a:solidFill>
                <a:latin typeface="PingFang SC"/>
              </a:rPr>
              <a:t>服务范围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3621024"/>
            <a:ext cx="370332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5" y="3712463"/>
            <a:ext cx="3447287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非诊断健康教育与习惯管理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3621024"/>
            <a:ext cx="388620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63256" y="3712463"/>
            <a:ext cx="36301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健康咨询、报告解读、档案及挂号/云陪诊等服务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43400"/>
            <a:ext cx="2834640" cy="621792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434840"/>
            <a:ext cx="257860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30" b="1">
                <a:solidFill>
                  <a:srgbClr val="9FB0C7"/>
                </a:solidFill>
                <a:latin typeface="PingFang SC"/>
              </a:rPr>
              <a:t>可检验差异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4343400"/>
            <a:ext cx="3703320" cy="621792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1335" y="4434840"/>
            <a:ext cx="3447287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规则可追溯、AI受限、边界可见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4343400"/>
            <a:ext cx="3886200" cy="621792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63256" y="4434840"/>
            <a:ext cx="36301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生态与服务能力强；具体体验须同条件实测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065776"/>
            <a:ext cx="283464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5157216"/>
            <a:ext cx="257860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30" b="1">
                <a:solidFill>
                  <a:srgbClr val="9FB0C7"/>
                </a:solidFill>
                <a:latin typeface="PingFang SC"/>
              </a:rPr>
              <a:t>证据结论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5065776"/>
            <a:ext cx="370332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31335" y="5157216"/>
            <a:ext cx="3447287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技术功能 F；用户偏好与竞争优势 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5065776"/>
            <a:ext cx="3886200" cy="621792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63256" y="5157216"/>
            <a:ext cx="36301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F4F7FB"/>
                </a:solidFill>
                <a:latin typeface="PingFang SC"/>
              </a:rPr>
              <a:t>功能来自官方公开资料；不推断其实际效果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5879592"/>
            <a:ext cx="2971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u="sng">
                <a:solidFill>
                  <a:srgbClr val="9FB0C7"/>
                </a:solidFill>
                <a:latin typeface="PingFang SC"/>
                <a:hlinkClick r:id="rId2"/>
              </a:rPr>
              <a:t>来源1：蚂蚁阿福 App Store 产品页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5879592"/>
            <a:ext cx="3657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u="sng">
                <a:solidFill>
                  <a:srgbClr val="9FB0C7"/>
                </a:solidFill>
                <a:latin typeface="PingFang SC"/>
                <a:hlinkClick r:id="rId3"/>
              </a:rPr>
              <a:t>来源2：人民日报（数据来源：蚂蚁集团）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879592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9FB0C7"/>
                </a:solidFill>
                <a:latin typeface="PingFang SC"/>
              </a:rPr>
              <a:t>核对日期 2026-09-15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为什么用户可能选择 CareAI？答案目前是四个待验证假设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差异化必须通过同条件任务证明，不能直接写成市场事实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230368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856232"/>
            <a:ext cx="658368" cy="420624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56232"/>
            <a:ext cx="65836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1828800"/>
            <a:ext cx="3474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更容易理解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04872"/>
            <a:ext cx="47548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9FB0C7"/>
                </a:solidFill>
                <a:latin typeface="PingFang SC"/>
              </a:rPr>
              <a:t>规则结果与 AI 解释分层；用户能说清“这不是诊断”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27632"/>
            <a:ext cx="5230368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5936" y="1856232"/>
            <a:ext cx="658368" cy="420624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856232"/>
            <a:ext cx="65836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7" y="1828800"/>
            <a:ext cx="3474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更容易行动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04872"/>
            <a:ext cx="47548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9FB0C7"/>
                </a:solidFill>
                <a:latin typeface="PingFang SC"/>
              </a:rPr>
              <a:t>固定输出“指标—原因—建议—7天计划”，减少下一步不明确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29584"/>
            <a:ext cx="5230368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3758184"/>
            <a:ext cx="658368" cy="420624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758184"/>
            <a:ext cx="65836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H3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3730752"/>
            <a:ext cx="3474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更容易复核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06824"/>
            <a:ext cx="47548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9FB0C7"/>
                </a:solidFill>
                <a:latin typeface="PingFang SC"/>
              </a:rPr>
              <a:t>规则版本、阈值、输入和输出可追溯；错误更容易定位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529584"/>
            <a:ext cx="5230368" cy="157276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5936" y="3758184"/>
            <a:ext cx="658368" cy="420624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758184"/>
            <a:ext cx="65836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H4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7" y="3730752"/>
            <a:ext cx="3474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更少数据负担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306824"/>
            <a:ext cx="47548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9FB0C7"/>
                </a:solidFill>
                <a:latin typeface="PingFang SC"/>
              </a:rPr>
              <a:t>课堂场景只用虚构资料；真实发布仍须完成隐私与授权设计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577840"/>
            <a:ext cx="10716768" cy="475488"/>
          </a:xfrm>
          <a:prstGeom prst="roundRect">
            <a:avLst/>
          </a:prstGeom>
          <a:solidFill>
            <a:srgbClr val="2A211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96712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PingFang SC"/>
              </a:rPr>
              <a:t>当前可以说“值得测试”，不能说“用户已经更喜欢 CareAI”。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公平对照测试：同一任务、同一资料、交换顺序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不采集真实健康数据；参与人数与知情安排由课程教师决定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2487168" cy="22402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810512"/>
            <a:ext cx="420624" cy="42062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1051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2"/>
            <a:ext cx="1554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准备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40864"/>
            <a:ext cx="2029968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一份 S（模拟）成年人资料；两边使用相同信息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627632"/>
            <a:ext cx="2487168" cy="22402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2736" y="1810512"/>
            <a:ext cx="420624" cy="42062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81051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1810512"/>
            <a:ext cx="1554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340864"/>
            <a:ext cx="2029968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查看/录入资料 → 找到解释 → 找到下一步行动 → 说明边界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627632"/>
            <a:ext cx="2487168" cy="22402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1810512"/>
            <a:ext cx="420624" cy="420624"/>
          </a:xfrm>
          <a:prstGeom prst="round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81051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1810512"/>
            <a:ext cx="1554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控偏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340864"/>
            <a:ext cx="2029968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一半先用 CareAI，一半先用阿福；记录未找到/不适用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1627632"/>
            <a:ext cx="2487168" cy="22402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9136" y="1810512"/>
            <a:ext cx="420624" cy="420624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181051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8111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1810512"/>
            <a:ext cx="1554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340864"/>
            <a:ext cx="2029968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9FB0C7"/>
                </a:solidFill>
                <a:latin typeface="PingFang SC"/>
              </a:rPr>
              <a:t>结果产生后再决定哪项假设保留、修改或拒绝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251960"/>
            <a:ext cx="10716768" cy="123444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07992"/>
            <a:ext cx="1417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统一观察指标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4407408"/>
            <a:ext cx="1764792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407408"/>
            <a:ext cx="176479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PingFang SC"/>
              </a:rPr>
              <a:t>任务完成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407408"/>
            <a:ext cx="1764792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4407408"/>
            <a:ext cx="176479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PingFang SC"/>
              </a:rPr>
              <a:t>耗时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407408"/>
            <a:ext cx="1764792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407408"/>
            <a:ext cx="176479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PingFang SC"/>
              </a:rPr>
              <a:t>操作步骤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58200" y="4407408"/>
            <a:ext cx="1764792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407408"/>
            <a:ext cx="176479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PingFang SC"/>
              </a:rPr>
              <a:t>提示理解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23160" y="4882896"/>
            <a:ext cx="1764792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4882896"/>
            <a:ext cx="176479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PingFang SC"/>
              </a:rPr>
              <a:t>行动清晰度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4882896"/>
            <a:ext cx="1764792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882896"/>
            <a:ext cx="176479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PingFang SC"/>
              </a:rPr>
              <a:t>边界理解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882896"/>
            <a:ext cx="1764792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882896"/>
            <a:ext cx="176479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PingFang SC"/>
              </a:rPr>
              <a:t>主观偏好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" y="5760720"/>
            <a:ext cx="10607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9FB0C7"/>
                </a:solidFill>
                <a:latin typeface="PingFang SC"/>
              </a:rPr>
              <a:t>输出：观察表 + 差异解释 + 局限 + 下一轮修改；不要只报平均分。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修改前｜项目定位被错误改写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同一 CareAI 项目、同一任务；截图保留原始对话和评分界面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8942832" cy="4828032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fore-careai-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517904"/>
            <a:ext cx="7607808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765792" y="1517904"/>
            <a:ext cx="1783080" cy="475488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85248" y="1755648"/>
            <a:ext cx="1325880" cy="347472"/>
          </a:xfrm>
          <a:prstGeom prst="roundRect">
            <a:avLst/>
          </a:prstGeom>
          <a:solidFill>
            <a:srgbClr val="F43F5E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85248" y="1755648"/>
            <a:ext cx="13258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8111F"/>
                </a:solidFill>
                <a:latin typeface="PingFang SC"/>
              </a:rPr>
              <a:t>BEFORE · 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5248" y="239572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PingFang SC"/>
              </a:rPr>
              <a:t>画面说明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85248" y="2724912"/>
            <a:ext cx="1298448" cy="1225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把非诊断健康教育项目说成心理健康筛查，并补造 NLP、访谈和用户。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5248" y="416052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PingFang SC"/>
              </a:rPr>
              <a:t>为什么重要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5248" y="4480560"/>
            <a:ext cx="129844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一旦项目事实错，后续商业建议、验证任务和合规判断都会沿着错误前提扩散。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修改前｜评分有数字，却没有可靠证据边界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同一 CareAI 项目、同一任务；截图保留原始对话和评分界面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8942832" cy="4828032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fore-careai-gr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517904"/>
            <a:ext cx="7607808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765792" y="1517904"/>
            <a:ext cx="1783080" cy="475488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85248" y="1755648"/>
            <a:ext cx="1325880" cy="347472"/>
          </a:xfrm>
          <a:prstGeom prst="roundRect">
            <a:avLst/>
          </a:prstGeom>
          <a:solidFill>
            <a:srgbClr val="F43F5E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85248" y="1755648"/>
            <a:ext cx="13258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8111F"/>
                </a:solidFill>
                <a:latin typeface="PingFang SC"/>
              </a:rPr>
              <a:t>BEFORE · 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5248" y="239572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PingFang SC"/>
              </a:rPr>
              <a:t>画面说明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85248" y="2724912"/>
            <a:ext cx="1298448" cy="1225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R1—R11 有分数，但部分团队、商业和材料依据不在提交文件中。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5248" y="416052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PingFang SC"/>
              </a:rPr>
              <a:t>为什么重要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5248" y="4480560"/>
            <a:ext cx="129844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分数无法回到材料位置，就不能证明评分正确，也不能指导学生具体修改。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修改后｜先复述事实，再说缺口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同一 CareAI 项目、同一任务；截图保留原始对话和评分界面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8942832" cy="4828032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fter-careai-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517904"/>
            <a:ext cx="7607808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765792" y="1517904"/>
            <a:ext cx="1783080" cy="475488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85248" y="1755648"/>
            <a:ext cx="1325880" cy="347472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85248" y="1755648"/>
            <a:ext cx="13258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8111F"/>
                </a:solidFill>
                <a:latin typeface="PingFang SC"/>
              </a:rPr>
              <a:t>AFTER ·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5248" y="239572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PingFang SC"/>
              </a:rPr>
              <a:t>画面说明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85248" y="2724912"/>
            <a:ext cx="1298448" cy="1225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准确识别非诊断定位、真实完成的 MVP、规则与 AI 分层，并把未验证项说清楚。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5248" y="416052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PingFang SC"/>
              </a:rPr>
              <a:t>为什么重要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5248" y="4480560"/>
            <a:ext cx="129844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建议开始于学生真实材料；资料缺失时明确“未提供/待验证”，减少幻觉传播。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修改后｜评分绑定依据、缺口与下一步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同一 CareAI 项目、同一任务；截图保留原始对话和评分界面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8942832" cy="4828032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fter-careai-gr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517904"/>
            <a:ext cx="7607808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765792" y="1517904"/>
            <a:ext cx="1783080" cy="475488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85248" y="1755648"/>
            <a:ext cx="1325880" cy="347472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85248" y="1755648"/>
            <a:ext cx="13258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8111F"/>
                </a:solidFill>
                <a:latin typeface="PingFang SC"/>
              </a:rPr>
              <a:t>AFTER ·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5248" y="239572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PingFang SC"/>
              </a:rPr>
              <a:t>画面说明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85248" y="2724912"/>
            <a:ext cx="1298448" cy="1225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R1—R11 逐项显示评分、材料依据、缺失证据和可执行建议。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5248" y="416052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PingFang SC"/>
              </a:rPr>
              <a:t>为什么重要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5248" y="4480560"/>
            <a:ext cx="129844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PingFang SC"/>
              </a:rPr>
              <a:t>学生能定位问题，教师能复核判断，修改后还能用新 run_id 做复验闭环。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修改为什么有效：把提示词约束变成产品门槛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单靠“请勿编造”不够；数据库、权限、版本与界面共同阻断错误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99616"/>
            <a:ext cx="5303520" cy="3346704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udent-st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538478"/>
            <a:ext cx="5230368" cy="32689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54496" y="1499616"/>
            <a:ext cx="5303520" cy="3346704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acher-st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1" y="1538478"/>
            <a:ext cx="5230368" cy="32689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919472"/>
            <a:ext cx="5074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22D3EE"/>
                </a:solidFill>
                <a:latin typeface="PingFang SC"/>
              </a:rPr>
              <a:t>学生端：材料版本、立项状态、证据导出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919472"/>
            <a:ext cx="5074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0B981"/>
                </a:solidFill>
                <a:latin typeface="PingFang SC"/>
              </a:rPr>
              <a:t>教师端：G1—G6、独立评分、D8/D9 排名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58384"/>
            <a:ext cx="10863072" cy="64008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41264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F4F7FB"/>
                </a:solidFill>
                <a:latin typeface="PingFang SC"/>
              </a:rPr>
              <a:t>事实约束 + 项目权限 + run追踪 + 材料哈希 + 版本失效 + 人工确认 = 可审计的验收系统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VENTUREAI · 第三阶段终局验收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PingFang SC"/>
              </a:rPr>
              <a:t>终局结论与下一步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系统已经就绪；真实成绩仍必须来自真实材料和真实教师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PingFang SC"/>
              </a:rPr>
              <a:t>课程报告与本地验收证据 · 2026-09-15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6903720" cy="356616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PingFang SC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6263640" cy="22677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G1—G6、版本材料、F1/F2/F3、F/I/H/S、D1—D9</a:t>
            </a:r>
          </a:p>
          <a:p>
            <a:pPr>
              <a:spcAft>
                <a:spcPts val="8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项目 / Agent / 答辩三张100分表与 D8/D9 排名</a:t>
            </a:r>
          </a:p>
          <a:p>
            <a:pPr>
              <a:spcAft>
                <a:spcPts val="8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CareAI 修改前后截图、原始 JSON、权限状态码</a:t>
            </a:r>
          </a:p>
          <a:p>
            <a:pPr>
              <a:spcAft>
                <a:spcPts val="8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15项后端测试、TypeScript 与生产构建通过</a:t>
            </a:r>
          </a:p>
          <a:p>
            <a:pPr>
              <a:spcAft>
                <a:spcPts val="8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V2 标签：ventureai-v2-stage3-2026-09-15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7" y="1572768"/>
            <a:ext cx="3639312" cy="356616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74519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PingFang SC"/>
              </a:rPr>
              <a:t>真实验收还需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496312"/>
            <a:ext cx="2788920" cy="1920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替换 S 模拟材料</a:t>
            </a:r>
          </a:p>
          <a:p>
            <a:pPr>
              <a:spcAft>
                <a:spcPts val="12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教师本人复审评分</a:t>
            </a:r>
          </a:p>
          <a:p>
            <a:pPr>
              <a:spcAft>
                <a:spcPts val="12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10分钟路演 + 5分钟答辩</a:t>
            </a:r>
          </a:p>
          <a:p>
            <a:pPr>
              <a:spcAft>
                <a:spcPts val="1200"/>
              </a:spcAft>
              <a:defRPr sz="1500" b="0">
                <a:solidFill>
                  <a:srgbClr val="F4F7FB"/>
                </a:solidFill>
                <a:latin typeface="PingFang SC"/>
              </a:defRPr>
            </a:pPr>
            <a:r>
              <a:t>•  完成合规的对照验证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04688"/>
            <a:ext cx="10863072" cy="512064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6235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8111F"/>
                </a:solidFill>
                <a:latin typeface="PingFang SC"/>
              </a:rPr>
              <a:t>第三阶段的核心不是“AI 写了多少”，而是“结果是否可信、可追溯、可答辩”。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VentureAI 第三阶段终局验收——CareAI 测试案例</dc:title>
  <dc:subject>验收标准、CareAI 与蚂蚁阿福比较、VentureAI 修改前后证据</dc:subject>
  <dc:creator>VentureAI 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