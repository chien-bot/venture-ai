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34440" y="-1005840"/>
            <a:ext cx="3657600" cy="3657600"/>
          </a:xfrm>
          <a:prstGeom prst="ellipse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-822960"/>
            <a:ext cx="3749039" cy="3749039"/>
          </a:xfrm>
          <a:prstGeom prst="ellipse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0" y="4434840"/>
            <a:ext cx="3108960" cy="3108960"/>
          </a:xfrm>
          <a:prstGeom prst="ellipse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3337560"/>
            <a:ext cx="4617720" cy="45720"/>
          </a:xfrm>
          <a:prstGeom prst="rect">
            <a:avLst/>
          </a:prstGeom>
          <a:solidFill>
            <a:srgbClr val="5D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 panose="020B0503020204020204" charset="-122"/>
              </a:rPr>
              <a:t>CareAI × VentureAI</a:t>
            </a:r>
            <a:endParaRPr sz="3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ABDCEE"/>
                </a:solidFill>
                <a:latin typeface="Microsoft YaHei" panose="020B0503020204020204" charset="-122"/>
              </a:rPr>
              <a:t>第一阶段：项目立项与 Agent V1 诊断基线</a:t>
            </a:r>
            <a:endParaRPr sz="2200" b="1">
              <a:solidFill>
                <a:srgbClr val="ABDCEE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749868"/>
            <a:ext cx="1060704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2E0EC"/>
                </a:solidFill>
                <a:latin typeface="Microsoft YaHei" panose="020B0503020204020204" charset="-122"/>
              </a:rPr>
              <a:t>82 组｜</a:t>
            </a:r>
            <a:r>
              <a:rPr lang="zh-CN" sz="1400" b="0">
                <a:solidFill>
                  <a:srgbClr val="D2E0EC"/>
                </a:solidFill>
                <a:latin typeface="Microsoft YaHei" panose="020B0503020204020204" charset="-122"/>
              </a:rPr>
              <a:t>组员：叶浩建（</a:t>
            </a:r>
            <a:r>
              <a:rPr lang="en-US" altLang="zh-CN" sz="1400" b="0">
                <a:solidFill>
                  <a:srgbClr val="D2E0EC"/>
                </a:solidFill>
                <a:latin typeface="Microsoft YaHei" panose="020B0503020204020204" charset="-122"/>
              </a:rPr>
              <a:t>1820231088</a:t>
            </a:r>
            <a:r>
              <a:rPr lang="zh-CN" altLang="en-US" sz="1400" b="0">
                <a:solidFill>
                  <a:srgbClr val="D2E0EC"/>
                </a:solidFill>
                <a:latin typeface="Microsoft YaHei" panose="020B0503020204020204" charset="-122"/>
              </a:rPr>
              <a:t>），许绮芳（</a:t>
            </a:r>
            <a:r>
              <a:rPr lang="en-US" altLang="zh-CN" sz="1400" b="0">
                <a:solidFill>
                  <a:srgbClr val="D2E0EC"/>
                </a:solidFill>
                <a:latin typeface="Microsoft YaHei" panose="020B0503020204020204" charset="-122"/>
              </a:rPr>
              <a:t>1820231063</a:t>
            </a:r>
            <a:r>
              <a:rPr lang="zh-CN" altLang="en-US" sz="1400" b="0">
                <a:solidFill>
                  <a:srgbClr val="D2E0EC"/>
                </a:solidFill>
                <a:latin typeface="Microsoft YaHei" panose="020B0503020204020204" charset="-122"/>
              </a:rPr>
              <a:t>）</a:t>
            </a:r>
            <a:r>
              <a:rPr sz="1400" b="0">
                <a:solidFill>
                  <a:srgbClr val="D2E0EC"/>
                </a:solidFill>
                <a:latin typeface="Microsoft YaHei" panose="020B0503020204020204" charset="-122"/>
              </a:rPr>
              <a:t>｜</a:t>
            </a:r>
            <a:r>
              <a:rPr lang="en-US" sz="1400" b="0">
                <a:solidFill>
                  <a:srgbClr val="D2E0EC"/>
                </a:solidFill>
                <a:latin typeface="Microsoft YaHei" panose="020B0503020204020204" charset="-122"/>
              </a:rPr>
              <a:t>2026-09-06</a:t>
            </a:r>
            <a:endParaRPr lang="en-US" sz="1400" b="0">
              <a:solidFill>
                <a:srgbClr val="D2E0EC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39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Microsoft YaHei" panose="020B0503020204020204" charset="-122"/>
              </a:rPr>
              <a:t>CareAI 是本阶段创业项目；VentureAI 是冻结并被测试的教学 Agent V1。</a:t>
            </a:r>
            <a:endParaRPr sz="1700" b="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02</a:t>
            </a:r>
            <a:endParaRPr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 panose="020B0503020204020204" charset="-122"/>
              </a:rPr>
              <a:t>项目定位、依据与边界</a:t>
            </a:r>
            <a:endParaRPr sz="25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A 区：不把假设写成事实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35661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051560"/>
            <a:ext cx="73152" cy="507492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17957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项目与用户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1581785"/>
            <a:ext cx="3154680" cy="30333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CareAI：面向成年人的非诊断性健康风险教育与习惯管理原型。
目标：愿意主动记录基础健康数据的成年人（H）。
不适用：未成年人、急重症、诊疗或用药决策。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3400" y="1051560"/>
            <a:ext cx="35661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051560"/>
            <a:ext cx="73152" cy="507492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17957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 panose="020B0503020204020204" charset="-122"/>
              </a:rPr>
              <a:t>公开依据（F）</a:t>
            </a:r>
            <a:endParaRPr sz="1600" b="1">
              <a:solidFill>
                <a:srgbClr val="2764A3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1581785"/>
            <a:ext cx="3154680" cy="30333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国家卫健委《健康中国行动》
WHO 身体活动建议
CDC 睡眠建议
个人信息保护法敏感信息要求
均为可定位的权威公开资料。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83879" y="1051560"/>
            <a:ext cx="352044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051560"/>
            <a:ext cx="73152" cy="507492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179576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 panose="020B0503020204020204" charset="-122"/>
              </a:rPr>
              <a:t>证据边界</a:t>
            </a:r>
            <a:endParaRPr sz="1600" b="1">
              <a:solidFill>
                <a:srgbClr val="D2791F"/>
              </a:solidFill>
              <a:latin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2480" y="1581785"/>
            <a:ext cx="3108960" cy="305244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F：公开资料 / 代码事实
I：基于事实的解释
H：待验证假设
S：Agent 或情境模拟
本阶段未做问卷、访谈、试用、订单、临床或运营验证。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03</a:t>
            </a:r>
            <a:endParaRPr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 panose="020B0503020204020204" charset="-122"/>
              </a:rPr>
              <a:t>方案、创新与风险</a:t>
            </a:r>
            <a:endParaRPr sz="25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B 区：规则优先，不作医疗诊断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0058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12540"/>
                </a:solidFill>
                <a:latin typeface="Microsoft YaHei" panose="020B0503020204020204" charset="-122"/>
              </a:rPr>
              <a:t>健康数据录入  →  本地规则提示  →  受限 AI 解释与 7 天计划  →  历史趋势</a:t>
            </a:r>
            <a:endParaRPr sz="2200" b="1">
              <a:solidFill>
                <a:srgbClr val="112540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创新机制（H）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2359025"/>
            <a:ext cx="3063240" cy="16440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1. 风险判断与生成解释分层
2. 指标—原因—建议—行动计划闭环
3. 非诊断边界在输入、报告和规则中可见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70832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828800"/>
            <a:ext cx="73152" cy="338328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 panose="020B0503020204020204" charset="-122"/>
              </a:rPr>
              <a:t>替代做法</a:t>
            </a:r>
            <a:endParaRPr sz="1600" b="1">
              <a:solidFill>
                <a:srgbClr val="2764A3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99305" y="2359025"/>
            <a:ext cx="3063240" cy="16395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自行看数据：指标零散
通用搜索 / 对话：边界与来源未必清晰
不用工具：难以持续记录
CareAI 仅提出机制差异，尚未宣称效果更好。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01583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828800"/>
            <a:ext cx="73152" cy="338328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3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 panose="020B0503020204020204" charset="-122"/>
              </a:rPr>
              <a:t>关键风险</a:t>
            </a:r>
            <a:endParaRPr sz="1600" b="1">
              <a:solidFill>
                <a:srgbClr val="BF3838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9930" y="2359025"/>
            <a:ext cx="3063240" cy="164401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医疗安全：非诊断、需专业复核
数据合规：授权、最小化、删除和访问控制
技术：外部模型不可用
证据：无真实用户验证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04</a:t>
            </a:r>
            <a:endParaRPr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 panose="020B0503020204020204" charset="-122"/>
              </a:rPr>
              <a:t>V1 首测保留，V1.1 独立复测</a:t>
            </a:r>
            <a:endParaRPr sz="25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C 区：不以修复版本覆盖首次失败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2540"/>
                </a:solidFill>
                <a:latin typeface="Microsoft YaHei" panose="020B0503020204020204" charset="-122"/>
              </a:rPr>
              <a:t>V1：c456aef（首次基线） ｜ V1.1：6299e2c（独立修复标签） ｜ 13 项 V1 关键文件哈希一致</a:t>
            </a:r>
            <a:endParaRPr sz="1500" b="1">
              <a:solidFill>
                <a:srgbClr val="112540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T1 理论学习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2359025"/>
            <a:ext cx="3154680" cy="17519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V1：被路由为 coach，未完成。
V1.1：intent=tutor；完成定义、正反例、常见错误、练习任务和 3 个理解检查。
复测：通过。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15968" y="18288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T2 项目指导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44695" y="2359025"/>
            <a:ext cx="3154680" cy="17519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V1：一次输出多项诊断与问题。
V1.1：intent=coach；只给一个问题和一个验收标准，不要求虚构访谈。
复测：通过。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83296" y="1828800"/>
            <a:ext cx="3566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T3 项目评审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2150" y="2359025"/>
            <a:ext cx="3154680" cy="17519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V1：返回 coach 式通用诊断。
V1.1：intent=grader；完成社会价值、实践依据、创新、前景和团队五维评审。
复测：通过。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05</a:t>
            </a:r>
            <a:endParaRPr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 panose="020B0503020204020204" charset="-122"/>
              </a:rPr>
              <a:t>真实问题案例与任务影响</a:t>
            </a:r>
            <a:endParaRPr sz="25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D 区：5 个可复现案例，覆盖 ≥2 个流程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96012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96012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08813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 panose="020B0503020204020204" charset="-122"/>
              </a:rPr>
              <a:t>P0：环境依赖冲突</a:t>
            </a:r>
            <a:endParaRPr sz="1600" b="1">
              <a:solidFill>
                <a:srgbClr val="BF3838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149047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默认全局环境无法启动；隔离环境只用于保留并复现首次基线。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15968" y="96012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96012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108813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 panose="020B0503020204020204" charset="-122"/>
              </a:rPr>
              <a:t>P1：显式流程被覆盖</a:t>
            </a:r>
            <a:endParaRPr sz="1600" b="1">
              <a:solidFill>
                <a:srgbClr val="BF3838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44568" y="149047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指定 tutor / grader 后仍返回 coach，T1/T3/C2 目标失效。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29016" y="96012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960120"/>
            <a:ext cx="73152" cy="146304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08813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 panose="020B0503020204020204" charset="-122"/>
              </a:rPr>
              <a:t>P1：F/I/H/S 边界失效</a:t>
            </a:r>
            <a:endParaRPr sz="1600" b="1">
              <a:solidFill>
                <a:srgbClr val="D2791F"/>
              </a:solidFill>
              <a:latin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57616" y="1490472"/>
            <a:ext cx="315467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对“未做真实验证”的材料仍要求补写访谈等事实，或产生无来源风险。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274320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743200"/>
            <a:ext cx="73152" cy="146304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7121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 panose="020B0503020204020204" charset="-122"/>
              </a:rPr>
              <a:t>P1：单步指导失效</a:t>
            </a:r>
            <a:endParaRPr sz="1600" b="1">
              <a:solidFill>
                <a:srgbClr val="D2791F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327355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要求每步一个任务和验收标准，仍一次输出多项诊断。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15968" y="2743200"/>
            <a:ext cx="3657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274320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287121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 panose="020B0503020204020204" charset="-122"/>
              </a:rPr>
              <a:t>P1：分类请求误拦截</a:t>
            </a:r>
            <a:endParaRPr sz="1600" b="1">
              <a:solidFill>
                <a:srgbClr val="BF3838"/>
              </a:solidFill>
              <a:latin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44568" y="327355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C3 的 F/I/H/S 与健康隐私检查被误判为代写，未完成分类。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50749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78"/>
                </a:solidFill>
                <a:latin typeface="Microsoft YaHei" panose="020B0503020204020204" charset="-122"/>
              </a:rPr>
              <a:t>5 个案例均含原始对话、时间、会话 ID、人工干预与复现步骤；完整案例卡已写入最终报告。</a:t>
            </a:r>
            <a:endParaRPr sz="150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9502"/>
            <a:ext cx="5029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</a:t>
            </a:r>
            <a:r>
              <a:rPr lang="en-US" sz="2000" b="1">
                <a:solidFill>
                  <a:srgbClr val="96D4EB"/>
                </a:solidFill>
                <a:latin typeface="Microsoft YaHei" panose="020B0503020204020204" charset="-122"/>
              </a:rPr>
              <a:t>6</a:t>
            </a:r>
            <a:endParaRPr lang="en-US"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 panose="020B0503020204020204" charset="-122"/>
              </a:rPr>
              <a:t>原始运行证据：V1 首次失败</a:t>
            </a:r>
            <a:endParaRPr sz="2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0" y="10972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会话 83618b05-396b-42cc-9985-34ec142752a4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" y="932688"/>
            <a:ext cx="10954512" cy="4352544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BF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47" y="1060704"/>
            <a:ext cx="10447000" cy="40965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5541264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5541264"/>
            <a:ext cx="82296" cy="658368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5586984"/>
            <a:ext cx="9326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2D3B"/>
                </a:solidFill>
                <a:latin typeface="Microsoft YaHei" panose="020B0503020204020204" charset="-122"/>
              </a:rPr>
              <a:t>这是 V1 的第一次运行。它把 F/I/H/S 分类和风险审阅误判成“代写”，所以没有完成任务。</a:t>
            </a:r>
            <a:endParaRPr sz="120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9502"/>
            <a:ext cx="5029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</a:t>
            </a:r>
            <a:r>
              <a:rPr lang="en-US" sz="2000" b="1">
                <a:solidFill>
                  <a:srgbClr val="96D4EB"/>
                </a:solidFill>
                <a:latin typeface="Microsoft YaHei" panose="020B0503020204020204" charset="-122"/>
              </a:rPr>
              <a:t>7</a:t>
            </a:r>
            <a:endParaRPr lang="en-US"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 panose="020B0503020204020204" charset="-122"/>
              </a:rPr>
              <a:t>原始运行证据：V1.1 修复后复测</a:t>
            </a:r>
            <a:endParaRPr sz="2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0" y="10972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会话 5b369e6c-4377-4587-844c-0418014cad24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" y="932688"/>
            <a:ext cx="10954512" cy="4352544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48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32" y="1060704"/>
            <a:ext cx="10377830" cy="40965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5541264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5541264"/>
            <a:ext cx="82296" cy="658368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5586984"/>
            <a:ext cx="9326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2D3B"/>
                </a:solidFill>
                <a:latin typeface="Microsoft YaHei" panose="020B0503020204020204" charset="-122"/>
              </a:rPr>
              <a:t>这是独立的 V1.1 新会话。它将无来源主张标为 H、模拟反馈标为 S，并给出医疗与隐私边界。</a:t>
            </a:r>
            <a:endParaRPr sz="120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69880" y="713232"/>
            <a:ext cx="1874519" cy="1874519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2840" y="1417320"/>
            <a:ext cx="1097280" cy="109728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94360" y="5623560"/>
            <a:ext cx="1691640" cy="1691640"/>
          </a:xfrm>
          <a:prstGeom prst="ellipse">
            <a:avLst/>
          </a:prstGeom>
          <a:solidFill>
            <a:srgbClr val="D6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" y="5989320"/>
            <a:ext cx="822960" cy="822960"/>
          </a:xfrm>
          <a:prstGeom prst="ellipse">
            <a:avLst/>
          </a:prstGeom>
          <a:solidFill>
            <a:srgbClr val="D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79502"/>
            <a:ext cx="5029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 panose="020B0503020204020204" charset="-122"/>
              </a:rPr>
              <a:t>0</a:t>
            </a:r>
            <a:r>
              <a:rPr lang="en-US" sz="2000" b="1">
                <a:solidFill>
                  <a:srgbClr val="96D4EB"/>
                </a:solidFill>
                <a:latin typeface="Microsoft YaHei" panose="020B0503020204020204" charset="-122"/>
              </a:rPr>
              <a:t>8</a:t>
            </a:r>
            <a:endParaRPr lang="en-US" sz="2000" b="1">
              <a:solidFill>
                <a:srgbClr val="96D4E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 panose="020B0503020204020204" charset="-122"/>
              </a:rPr>
              <a:t>阶段结论与下一步</a:t>
            </a:r>
            <a:endParaRPr sz="25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 panose="020B0503020204020204" charset="-122"/>
              </a:rPr>
              <a:t>E 区：G1–G5 的证据链已齐备</a:t>
            </a:r>
            <a:endParaRPr sz="1000" b="0">
              <a:solidFill>
                <a:srgbClr val="CBDCEB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55C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6473952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5C6978"/>
                </a:solidFill>
                <a:latin typeface="Microsoft YaHei" panose="020B0503020204020204" charset="-122"/>
              </a:rPr>
              <a:t>CareAI × VentureAI  ｜  Phase 1</a:t>
            </a:r>
            <a:endParaRPr sz="85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 panose="020B0503020204020204" charset="-122"/>
              </a:rPr>
              <a:t>本阶段结论</a:t>
            </a:r>
            <a:endParaRPr sz="1600" b="1">
              <a:solidFill>
                <a:srgbClr val="148889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673225"/>
            <a:ext cx="4892040" cy="225171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CareAI 已完成有边界的立项与可追溯证据整理。
VentureAI V1 的首次失败被完整保留；V1.1 已在独立提交中完成 T1/T2/T3 和 F/I/H/S 复测。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73152" cy="448056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71016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 panose="020B0503020204020204" charset="-122"/>
              </a:rPr>
              <a:t>第二阶段优先级</a:t>
            </a:r>
            <a:endParaRPr sz="1600" b="1">
              <a:solidFill>
                <a:srgbClr val="2764A3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1673225"/>
            <a:ext cx="4892040" cy="225234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222D3B"/>
                </a:solidFill>
                <a:latin typeface="Microsoft YaHei" panose="020B0503020204020204" charset="-122"/>
              </a:rPr>
              <a:t>1. 持续验证锁定依赖环境
2. 扩展显式路由回归测试
3. 细化 F/I/H/S 证据追踪
4. 评估单步协议的多轮体验
5. 继续区分材料评审与代写拦截
保留 V1 与 V1.1 全部日志。</a:t>
            </a:r>
            <a:endParaRPr sz="1250" b="0">
              <a:solidFill>
                <a:srgbClr val="222D3B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C6978"/>
                </a:solidFill>
                <a:latin typeface="Microsoft YaHei" panose="020B0503020204020204" charset="-122"/>
              </a:rPr>
              <a:t>谢谢｜问题、局限与下一步均可回溯至正式提交材料</a:t>
            </a:r>
            <a:endParaRPr sz="1300" b="0">
              <a:solidFill>
                <a:srgbClr val="5C6978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</Words>
  <Application>WPS Presentation</Application>
  <PresentationFormat>On-screen Show (4:3)</PresentationFormat>
  <Paragraphs>140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Microsoft YaHei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SE 14 Khaw Qi Fang</cp:lastModifiedBy>
  <cp:revision>6</cp:revision>
  <dcterms:created xsi:type="dcterms:W3CDTF">2013-01-27T09:14:00Z</dcterms:created>
  <dcterms:modified xsi:type="dcterms:W3CDTF">2026-09-06T10:02:29Z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67F97DF29FFF4DC7A2BE855C0FC934B7_12</vt:lpwstr>
  </property>
</Properties>
</file>