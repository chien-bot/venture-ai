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566928"/>
            <a:ext cx="1508760" cy="347472"/>
          </a:xfrm>
          <a:prstGeom prst="roundRect">
            <a:avLst/>
          </a:prstGeom>
          <a:solidFill>
            <a:srgbClr val="0E2030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85216"/>
            <a:ext cx="15087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22D3EE"/>
                </a:solidFill>
                <a:latin typeface="PingFang SC"/>
              </a:rPr>
              <a:t>助教2 · Agent优化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571500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100" b="1">
                <a:solidFill>
                  <a:srgbClr val="F4F7FB"/>
                </a:solidFill>
                <a:latin typeface="PingFang SC"/>
              </a:rPr>
              <a:t>VentureAI：从“会回答”到“有证据地指导”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770632"/>
            <a:ext cx="5440680" cy="8412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2D3EE"/>
                </a:solidFill>
                <a:latin typeface="PingFang SC"/>
              </a:rPr>
              <a:t>用 CareAI 同一项目材料完成 V1→V2 对照与最终应用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3977639"/>
            <a:ext cx="5257800" cy="10058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800"/>
              </a:spcAft>
              <a:defRPr sz="1250" b="0">
                <a:solidFill>
                  <a:srgbClr val="F4F7FB"/>
                </a:solidFill>
                <a:latin typeface="PingFang SC"/>
              </a:defRPr>
            </a:pPr>
            <a:r>
              <a:t>•  真实问题 → 修改 → 同条件验证</a:t>
            </a:r>
          </a:p>
          <a:p>
            <a:pPr>
              <a:spcAft>
                <a:spcPts val="800"/>
              </a:spcAft>
              <a:defRPr sz="1250" b="0">
                <a:solidFill>
                  <a:srgbClr val="F4F7FB"/>
                </a:solidFill>
                <a:latin typeface="PingFang SC"/>
              </a:defRPr>
            </a:pPr>
            <a:r>
              <a:t>•  版本：V1 c456aef → V2基线 2026-09-15 → 最终交付tag 2026-09-16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47104" y="832103"/>
            <a:ext cx="4965192" cy="4599432"/>
          </a:xfrm>
          <a:prstGeom prst="roundRect">
            <a:avLst/>
          </a:prstGeom>
          <a:solidFill>
            <a:srgbClr val="0B1526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fter-careai-co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03057"/>
            <a:ext cx="4892040" cy="305752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0" y="5532120"/>
            <a:ext cx="4892040" cy="512064"/>
          </a:xfrm>
          <a:prstGeom prst="roundRect">
            <a:avLst/>
          </a:prstGeom>
          <a:solidFill>
            <a:srgbClr val="14213A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5669280"/>
            <a:ext cx="449884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>
                <a:solidFill>
                  <a:srgbClr val="9FB0C7"/>
                </a:solidFill>
                <a:latin typeface="PingFang SC"/>
              </a:rPr>
              <a:t>真实学生端截图｜修改后Coach流程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537960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0">
                <a:solidFill>
                  <a:srgbClr val="9FB0C7"/>
                </a:solidFill>
                <a:latin typeface="PingFang SC"/>
              </a:rPr>
              <a:t>助教2 · VentureAI优化与效果 · 2026-09-16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PingFang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PingFang SC"/>
              </a:rPr>
              <a:t>B1 · V1问题与优化目标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356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F4F7FB"/>
                </a:solidFill>
                <a:latin typeface="PingFang SC"/>
              </a:rPr>
              <a:t>代表性高优问题：V1会把项目材料改写成不存在的事实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8356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9FB0C7"/>
                </a:solidFill>
                <a:latin typeface="PingFang SC"/>
              </a:rPr>
              <a:t>同一CareAI项目书、同一任务；问题会污染后续指导、竞品比较和评分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37960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0">
                <a:solidFill>
                  <a:srgbClr val="9FB0C7"/>
                </a:solidFill>
                <a:latin typeface="PingFang SC"/>
              </a:rPr>
              <a:t>助教2 · VentureAI优化与效果 · 2026-09-16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PingFang SC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536192"/>
            <a:ext cx="6656832" cy="4142232"/>
          </a:xfrm>
          <a:prstGeom prst="roundRect">
            <a:avLst/>
          </a:prstGeom>
          <a:solidFill>
            <a:srgbClr val="0B1526"/>
          </a:solidFill>
          <a:ln w="1016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efore-careai-co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3" y="1572768"/>
            <a:ext cx="6510528" cy="40690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43800" y="1572768"/>
            <a:ext cx="3977639" cy="4069080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90688" y="1810512"/>
            <a:ext cx="43891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F43F5E"/>
                </a:solidFill>
                <a:latin typeface="PingFang SC"/>
              </a:rPr>
              <a:t>P0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2752" y="1792224"/>
            <a:ext cx="914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F4F7FB"/>
                </a:solidFill>
                <a:latin typeface="PingFang SC"/>
              </a:rPr>
              <a:t>事实幻觉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98864" y="1783080"/>
            <a:ext cx="199339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80" b="0">
                <a:solidFill>
                  <a:srgbClr val="9FB0C7"/>
                </a:solidFill>
                <a:latin typeface="PingFang SC"/>
              </a:rPr>
              <a:t>非诊断健康教育被写成心理筛查；虚构NLP、访谈、团队与收入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688" y="2688336"/>
            <a:ext cx="43891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F43F5E"/>
                </a:solidFill>
                <a:latin typeface="PingFang SC"/>
              </a:rPr>
              <a:t>P0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670048"/>
            <a:ext cx="914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F4F7FB"/>
                </a:solidFill>
                <a:latin typeface="PingFang SC"/>
              </a:rPr>
              <a:t>数据权限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98864" y="2660904"/>
            <a:ext cx="199339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80" b="0">
                <a:solidFill>
                  <a:srgbClr val="9FB0C7"/>
                </a:solidFill>
                <a:latin typeface="PingFang SC"/>
              </a:rPr>
              <a:t>匿名可读取项目、详情和会话历史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0688" y="3566160"/>
            <a:ext cx="43891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F59E0B"/>
                </a:solidFill>
                <a:latin typeface="PingFang SC"/>
              </a:rPr>
              <a:t>P1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3547872"/>
            <a:ext cx="914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F4F7FB"/>
                </a:solidFill>
                <a:latin typeface="PingFang SC"/>
              </a:rPr>
              <a:t>证据缺失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8864" y="3538728"/>
            <a:ext cx="199339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80" b="0">
                <a:solidFill>
                  <a:srgbClr val="9FB0C7"/>
                </a:solidFill>
                <a:latin typeface="PingFang SC"/>
              </a:rPr>
              <a:t>文件只截取前2000字；评分与材料无法逐项对应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4443983"/>
            <a:ext cx="43891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F59E0B"/>
                </a:solidFill>
                <a:latin typeface="PingFang SC"/>
              </a:rPr>
              <a:t>P1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4425696"/>
            <a:ext cx="914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F4F7FB"/>
                </a:solidFill>
                <a:latin typeface="PingFang SC"/>
              </a:rPr>
              <a:t>错误传播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8864" y="4416551"/>
            <a:ext cx="1993392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80" b="0">
                <a:solidFill>
                  <a:srgbClr val="9FB0C7"/>
                </a:solidFill>
                <a:latin typeface="PingFang SC"/>
              </a:rPr>
              <a:t>用户纠正后仍保留旧设定，竞品任务继续失真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90688" y="5102352"/>
            <a:ext cx="3474720" cy="329184"/>
          </a:xfrm>
          <a:prstGeom prst="roundRect">
            <a:avLst/>
          </a:prstGeom>
          <a:solidFill>
            <a:srgbClr val="2A1420"/>
          </a:solidFill>
          <a:ln w="1016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82127" y="5175504"/>
            <a:ext cx="32918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80" b="1">
                <a:solidFill>
                  <a:srgbClr val="F4F7FB"/>
                </a:solidFill>
                <a:latin typeface="PingFang SC"/>
              </a:rPr>
              <a:t>优先级依据：影响所有核心流程与验收可信度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6263640"/>
            <a:ext cx="104698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70" b="0">
                <a:solidFill>
                  <a:srgbClr val="9FB0C7"/>
                </a:solidFill>
                <a:latin typeface="PingFang SC"/>
              </a:rPr>
              <a:t>原始运行：careai-live-20260914-135948.json；Coach run_id=run_3ac45f3de1cb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PingFang SC"/>
              </a:rPr>
              <a:t>B1 / B3 · 项目指导前后证据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356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F4F7FB"/>
                </a:solidFill>
                <a:latin typeface="PingFang SC"/>
              </a:rPr>
              <a:t>V2修改与验证（1）：事实基准进入模型，纠错后撤销旧推断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8356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9FB0C7"/>
                </a:solidFill>
                <a:latin typeface="PingFang SC"/>
              </a:rPr>
              <a:t>修改不只发生在提示词，还包括文件注入、事实优先级、输出边界和交互约束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37960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0">
                <a:solidFill>
                  <a:srgbClr val="9FB0C7"/>
                </a:solidFill>
                <a:latin typeface="PingFang SC"/>
              </a:rPr>
              <a:t>助教2 · VentureAI优化与效果 · 2026-09-16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PingFang SC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536192"/>
            <a:ext cx="5303520" cy="3657600"/>
          </a:xfrm>
          <a:prstGeom prst="roundRect">
            <a:avLst/>
          </a:prstGeom>
          <a:solidFill>
            <a:srgbClr val="0B1526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efore-careai-co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7" y="1730501"/>
            <a:ext cx="5230368" cy="32689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54496" y="1536192"/>
            <a:ext cx="5303520" cy="3657600"/>
          </a:xfrm>
          <a:prstGeom prst="roundRect">
            <a:avLst/>
          </a:prstGeom>
          <a:solidFill>
            <a:srgbClr val="0B1526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fter-careai-coa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1" y="1730501"/>
            <a:ext cx="5230368" cy="32689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59536" y="1737360"/>
            <a:ext cx="1115568" cy="347472"/>
          </a:xfrm>
          <a:prstGeom prst="roundRect">
            <a:avLst/>
          </a:prstGeom>
          <a:solidFill>
            <a:srgbClr val="2A1420"/>
          </a:solidFill>
          <a:ln w="1016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1755648"/>
            <a:ext cx="11155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50" b="1">
                <a:solidFill>
                  <a:srgbClr val="F43F5E"/>
                </a:solidFill>
                <a:latin typeface="PingFang SC"/>
              </a:rPr>
              <a:t>修改前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737360"/>
            <a:ext cx="1115568" cy="347472"/>
          </a:xfrm>
          <a:prstGeom prst="roundRect">
            <a:avLst/>
          </a:prstGeom>
          <a:solidFill>
            <a:srgbClr val="0D2B27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55648"/>
            <a:ext cx="11155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50" b="1">
                <a:solidFill>
                  <a:srgbClr val="10B981"/>
                </a:solidFill>
                <a:latin typeface="PingFang SC"/>
              </a:rPr>
              <a:t>修改后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340096"/>
            <a:ext cx="10863072" cy="530352"/>
          </a:xfrm>
          <a:prstGeom prst="roundRect">
            <a:avLst/>
          </a:prstGeom>
          <a:solidFill>
            <a:srgbClr val="14213A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5477256"/>
            <a:ext cx="1046073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20" b="1">
                <a:solidFill>
                  <a:srgbClr val="F4F7FB"/>
                </a:solidFill>
                <a:latin typeface="PingFang SC"/>
              </a:rPr>
              <a:t>前：心理筛查 / NLP / 已访谈   →   后：非诊断健康教育 / 规则与AI分层 / 明确未验证项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6263640"/>
            <a:ext cx="104698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70" b="0">
                <a:solidFill>
                  <a:srgbClr val="9FB0C7"/>
                </a:solidFill>
                <a:latin typeface="PingFang SC"/>
              </a:rPr>
              <a:t>修改：完整正文与证据索引进入模型；用户/文件事实优先；冲突时撤销旧AI推断；首轮只问一个下一步问题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PingFang SC"/>
              </a:rPr>
              <a:t>B1 / B4 · 评审反馈前后证据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356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F4F7FB"/>
                </a:solidFill>
                <a:latin typeface="PingFang SC"/>
              </a:rPr>
              <a:t>V2修改与验证（2）：评分从“有分数”变成“有依据、缺口和下一步”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8356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9FB0C7"/>
                </a:solidFill>
                <a:latin typeface="PingFang SC"/>
              </a:rPr>
              <a:t>同一CareAI项目材料；竞品比较也改为同资料、同任务和同指标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37960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0">
                <a:solidFill>
                  <a:srgbClr val="9FB0C7"/>
                </a:solidFill>
                <a:latin typeface="PingFang SC"/>
              </a:rPr>
              <a:t>助教2 · VentureAI优化与效果 · 2026-09-16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PingFang SC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536192"/>
            <a:ext cx="5303520" cy="3566160"/>
          </a:xfrm>
          <a:prstGeom prst="roundRect">
            <a:avLst/>
          </a:prstGeom>
          <a:solidFill>
            <a:srgbClr val="0B1526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efore-careai-gr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7" y="1684781"/>
            <a:ext cx="5230368" cy="32689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54496" y="1536192"/>
            <a:ext cx="5303520" cy="3566160"/>
          </a:xfrm>
          <a:prstGeom prst="roundRect">
            <a:avLst/>
          </a:prstGeom>
          <a:solidFill>
            <a:srgbClr val="0B1526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fter-careai-gr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1" y="1684781"/>
            <a:ext cx="5230368" cy="32689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59536" y="1737360"/>
            <a:ext cx="1115568" cy="347472"/>
          </a:xfrm>
          <a:prstGeom prst="roundRect">
            <a:avLst/>
          </a:prstGeom>
          <a:solidFill>
            <a:srgbClr val="2A1420"/>
          </a:solidFill>
          <a:ln w="1016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1755648"/>
            <a:ext cx="11155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50" b="1">
                <a:solidFill>
                  <a:srgbClr val="F43F5E"/>
                </a:solidFill>
                <a:latin typeface="PingFang SC"/>
              </a:rPr>
              <a:t>修改前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737360"/>
            <a:ext cx="1115568" cy="347472"/>
          </a:xfrm>
          <a:prstGeom prst="roundRect">
            <a:avLst/>
          </a:prstGeom>
          <a:solidFill>
            <a:srgbClr val="0D2B27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55648"/>
            <a:ext cx="111556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50" b="1">
                <a:solidFill>
                  <a:srgbClr val="10B981"/>
                </a:solidFill>
                <a:latin typeface="PingFang SC"/>
              </a:rPr>
              <a:t>修改后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257800"/>
            <a:ext cx="6812280" cy="594360"/>
          </a:xfrm>
          <a:prstGeom prst="roundRect">
            <a:avLst/>
          </a:prstGeom>
          <a:solidFill>
            <a:srgbClr val="14213A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422392"/>
            <a:ext cx="63825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20" b="1">
                <a:solidFill>
                  <a:srgbClr val="F4F7FB"/>
                </a:solidFill>
                <a:latin typeface="PingFang SC"/>
              </a:rPr>
              <a:t>R1—R11：每项返回材料依据、证据缺口和可执行修改；无依据内容写“未找到”。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62672" y="5257800"/>
            <a:ext cx="3858768" cy="594360"/>
          </a:xfrm>
          <a:prstGeom prst="roundRect">
            <a:avLst/>
          </a:prstGeom>
          <a:solidFill>
            <a:srgbClr val="0E2030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36408" y="5422392"/>
            <a:ext cx="351129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70" b="1">
                <a:solidFill>
                  <a:srgbClr val="F4F7FB"/>
                </a:solidFill>
                <a:latin typeface="PingFang SC"/>
              </a:rPr>
              <a:t>竞品：不声称CareAI已胜出，只给公平对照方案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6263640"/>
            <a:ext cx="104698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70" b="0">
                <a:solidFill>
                  <a:srgbClr val="9FB0C7"/>
                </a:solidFill>
                <a:latin typeface="PingFang SC"/>
              </a:rPr>
              <a:t>原始记录：careai-completed-grader-recovered.json；竞品修复 run_id=run_07a98721bfe5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PingFang SC"/>
              </a:rPr>
              <a:t>B2 / B3 / B4 / B7 · F1/F2/F3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356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F4F7FB"/>
                </a:solidFill>
                <a:latin typeface="PingFang SC"/>
              </a:rPr>
              <a:t>三个核心流程已独立准备，可接受现场随机抽测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8356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9FB0C7"/>
                </a:solidFill>
                <a:latin typeface="PingFang SC"/>
              </a:rPr>
              <a:t>每个流程都有明确入口、任务边界、原始run_id和同版本历史记录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37960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0">
                <a:solidFill>
                  <a:srgbClr val="9FB0C7"/>
                </a:solidFill>
                <a:latin typeface="PingFang SC"/>
              </a:rPr>
              <a:t>助教2 · VentureAI优化与效果 · 2026-09-16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PingFang SC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3438144" cy="3520440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9656"/>
            <a:ext cx="6858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22D3EE"/>
                </a:solidFill>
                <a:latin typeface="PingFang SC"/>
              </a:rPr>
              <a:t>F1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2496" y="1856231"/>
            <a:ext cx="190195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4F7FB"/>
                </a:solidFill>
                <a:latin typeface="PingFang SC"/>
              </a:rPr>
              <a:t>理论学习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578608"/>
            <a:ext cx="2788920" cy="149047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800"/>
              </a:spcAft>
              <a:defRPr sz="1330" b="0">
                <a:solidFill>
                  <a:srgbClr val="F4F7FB"/>
                </a:solidFill>
                <a:latin typeface="PingFang SC"/>
              </a:defRPr>
            </a:pPr>
            <a:r>
              <a:t>•  定义与举例</a:t>
            </a:r>
          </a:p>
          <a:p>
            <a:pPr>
              <a:spcAft>
                <a:spcPts val="800"/>
              </a:spcAft>
              <a:defRPr sz="1330" b="0">
                <a:solidFill>
                  <a:srgbClr val="F4F7FB"/>
                </a:solidFill>
                <a:latin typeface="PingFang SC"/>
              </a:defRPr>
            </a:pPr>
            <a:r>
              <a:t>•  反例/边界</a:t>
            </a:r>
          </a:p>
          <a:p>
            <a:pPr>
              <a:spcAft>
                <a:spcPts val="800"/>
              </a:spcAft>
              <a:defRPr sz="1330" b="0">
                <a:solidFill>
                  <a:srgbClr val="F4F7FB"/>
                </a:solidFill>
                <a:latin typeface="PingFang SC"/>
              </a:defRPr>
            </a:pPr>
            <a:r>
              <a:t>•  理解检查</a:t>
            </a:r>
          </a:p>
          <a:p>
            <a:pPr>
              <a:spcAft>
                <a:spcPts val="800"/>
              </a:spcAft>
              <a:defRPr sz="1330" b="0">
                <a:solidFill>
                  <a:srgbClr val="F4F7FB"/>
                </a:solidFill>
                <a:latin typeface="PingFang SC"/>
              </a:defRPr>
            </a:pPr>
            <a:r>
              <a:t>•  不确定性与来源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" y="4416552"/>
            <a:ext cx="2697480" cy="347472"/>
          </a:xfrm>
          <a:prstGeom prst="roundRect">
            <a:avLst/>
          </a:prstGeom>
          <a:solidFill>
            <a:srgbClr val="0C1728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434840"/>
            <a:ext cx="26974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22D3EE"/>
                </a:solidFill>
                <a:latin typeface="PingFang SC"/>
              </a:rPr>
              <a:t>入口：U1 / U2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572768"/>
            <a:ext cx="3438144" cy="3520440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819656"/>
            <a:ext cx="6858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6366F1"/>
                </a:solidFill>
                <a:latin typeface="PingFang SC"/>
              </a:rPr>
              <a:t>F2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67528" y="1856231"/>
            <a:ext cx="190195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4F7FB"/>
                </a:solidFill>
                <a:latin typeface="PingFang SC"/>
              </a:rPr>
              <a:t>项目指导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578608"/>
            <a:ext cx="2788920" cy="149047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800"/>
              </a:spcAft>
              <a:defRPr sz="1330" b="0">
                <a:solidFill>
                  <a:srgbClr val="F4F7FB"/>
                </a:solidFill>
                <a:latin typeface="PingFang SC"/>
              </a:defRPr>
            </a:pPr>
            <a:r>
              <a:t>•  一次推进一个问题</a:t>
            </a:r>
          </a:p>
          <a:p>
            <a:pPr>
              <a:spcAft>
                <a:spcPts val="800"/>
              </a:spcAft>
              <a:defRPr sz="1330" b="0">
                <a:solidFill>
                  <a:srgbClr val="F4F7FB"/>
                </a:solidFill>
                <a:latin typeface="PingFang SC"/>
              </a:defRPr>
            </a:pPr>
            <a:r>
              <a:t>•  用户/场景/证据</a:t>
            </a:r>
          </a:p>
          <a:p>
            <a:pPr>
              <a:spcAft>
                <a:spcPts val="800"/>
              </a:spcAft>
              <a:defRPr sz="1330" b="0">
                <a:solidFill>
                  <a:srgbClr val="F4F7FB"/>
                </a:solidFill>
                <a:latin typeface="PingFang SC"/>
              </a:defRPr>
            </a:pPr>
            <a:r>
              <a:t>•  不代写事实</a:t>
            </a:r>
          </a:p>
          <a:p>
            <a:pPr>
              <a:spcAft>
                <a:spcPts val="800"/>
              </a:spcAft>
              <a:defRPr sz="1330" b="0">
                <a:solidFill>
                  <a:srgbClr val="F4F7FB"/>
                </a:solidFill>
                <a:latin typeface="PingFang SC"/>
              </a:defRPr>
            </a:pPr>
            <a:r>
              <a:t>•  明确待验证项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4416552"/>
            <a:ext cx="2697480" cy="347472"/>
          </a:xfrm>
          <a:prstGeom prst="roundRect">
            <a:avLst/>
          </a:prstGeom>
          <a:solidFill>
            <a:srgbClr val="0C1728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34840"/>
            <a:ext cx="26974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6366F1"/>
                </a:solidFill>
                <a:latin typeface="PingFang SC"/>
              </a:rPr>
              <a:t>入口：Coach / 竞品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2" y="1572768"/>
            <a:ext cx="3438144" cy="3520440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819656"/>
            <a:ext cx="6858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PingFang SC"/>
              </a:rPr>
              <a:t>F3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1856231"/>
            <a:ext cx="190195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4F7FB"/>
                </a:solidFill>
                <a:latin typeface="PingFang SC"/>
              </a:rPr>
              <a:t>评审反馈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578608"/>
            <a:ext cx="2788920" cy="149047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800"/>
              </a:spcAft>
              <a:defRPr sz="1330" b="0">
                <a:solidFill>
                  <a:srgbClr val="F4F7FB"/>
                </a:solidFill>
                <a:latin typeface="PingFang SC"/>
              </a:defRPr>
            </a:pPr>
            <a:r>
              <a:t>•  R1—R11标准</a:t>
            </a:r>
          </a:p>
          <a:p>
            <a:pPr>
              <a:spcAft>
                <a:spcPts val="800"/>
              </a:spcAft>
              <a:defRPr sz="1330" b="0">
                <a:solidFill>
                  <a:srgbClr val="F4F7FB"/>
                </a:solidFill>
                <a:latin typeface="PingFang SC"/>
              </a:defRPr>
            </a:pPr>
            <a:r>
              <a:t>•  优点/缺口/风险</a:t>
            </a:r>
          </a:p>
          <a:p>
            <a:pPr>
              <a:spcAft>
                <a:spcPts val="800"/>
              </a:spcAft>
              <a:defRPr sz="1330" b="0">
                <a:solidFill>
                  <a:srgbClr val="F4F7FB"/>
                </a:solidFill>
                <a:latin typeface="PingFang SC"/>
              </a:defRPr>
            </a:pPr>
            <a:r>
              <a:t>•  可操作修改</a:t>
            </a:r>
          </a:p>
          <a:p>
            <a:pPr>
              <a:spcAft>
                <a:spcPts val="800"/>
              </a:spcAft>
              <a:defRPr sz="1330" b="0">
                <a:solidFill>
                  <a:srgbClr val="F4F7FB"/>
                </a:solidFill>
                <a:latin typeface="PingFang SC"/>
              </a:defRPr>
            </a:pPr>
            <a:r>
              <a:t>•  再次run复验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02752" y="4416552"/>
            <a:ext cx="2697480" cy="347472"/>
          </a:xfrm>
          <a:prstGeom prst="roundRect">
            <a:avLst/>
          </a:prstGeom>
          <a:solidFill>
            <a:srgbClr val="0C1728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2" y="4434840"/>
            <a:ext cx="26974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10B981"/>
                </a:solidFill>
                <a:latin typeface="PingFang SC"/>
              </a:rPr>
              <a:t>入口：Grader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413248"/>
            <a:ext cx="10863072" cy="502920"/>
          </a:xfrm>
          <a:prstGeom prst="roundRect">
            <a:avLst/>
          </a:prstGeom>
          <a:solidFill>
            <a:srgbClr val="0E2030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541264"/>
            <a:ext cx="1049731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>
                <a:solidFill>
                  <a:srgbClr val="F4F7FB"/>
                </a:solidFill>
                <a:latin typeface="PingFang SC"/>
              </a:rPr>
              <a:t>抽测策略：现场运行当前版本；若网络/API失败，如实展示失败状态，再打开同版本原始运行和日志。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6263640"/>
            <a:ext cx="104698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70" b="0">
                <a:solidFill>
                  <a:srgbClr val="9FB0C7"/>
                </a:solidFill>
                <a:latin typeface="PingFang SC"/>
              </a:rPr>
              <a:t>同条件证据：V1/V2均使用 qwen/qwen-2.5-72b-instruct、USE_MOCK_API=false、固定U1—U6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PingFang SC"/>
              </a:rPr>
              <a:t>B6 / C4 · 实际贡献与人机边界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356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F4F7FB"/>
                </a:solidFill>
                <a:latin typeface="PingFang SC"/>
              </a:rPr>
              <a:t>Agent对最终CareAI项目的实际贡献：输出经过人工选择才进入成果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8356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9FB0C7"/>
                </a:solidFill>
                <a:latin typeface="PingFang SC"/>
              </a:rPr>
              <a:t>展示输入、Agent输出、采用/拒绝/改写和最终影响，避免把Agent草稿当事实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37960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0">
                <a:solidFill>
                  <a:srgbClr val="9FB0C7"/>
                </a:solidFill>
                <a:latin typeface="PingFang SC"/>
              </a:rPr>
              <a:t>助教2 · VentureAI优化与效果 · 2026-09-16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PingFang SC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1874519" cy="502920"/>
          </a:xfrm>
          <a:prstGeom prst="roundRect">
            <a:avLst/>
          </a:prstGeom>
          <a:solidFill>
            <a:srgbClr val="14213A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64208"/>
            <a:ext cx="1655063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9FB0C7"/>
                </a:solidFill>
                <a:latin typeface="PingFang SC"/>
              </a:rPr>
              <a:t>项目任务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508760"/>
            <a:ext cx="2651760" cy="502920"/>
          </a:xfrm>
          <a:prstGeom prst="roundRect">
            <a:avLst/>
          </a:prstGeom>
          <a:solidFill>
            <a:srgbClr val="14213A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2928" y="1664208"/>
            <a:ext cx="2432304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22D3EE"/>
                </a:solidFill>
                <a:latin typeface="PingFang SC"/>
              </a:rPr>
              <a:t>提供给Agent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1508760"/>
            <a:ext cx="2743200" cy="502920"/>
          </a:xfrm>
          <a:prstGeom prst="roundRect">
            <a:avLst/>
          </a:prstGeom>
          <a:solidFill>
            <a:srgbClr val="14213A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33288" y="1664208"/>
            <a:ext cx="2523744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6366F1"/>
                </a:solidFill>
                <a:latin typeface="PingFang SC"/>
              </a:rPr>
              <a:t>Agent输出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508760"/>
            <a:ext cx="2926080" cy="502920"/>
          </a:xfrm>
          <a:prstGeom prst="roundRect">
            <a:avLst/>
          </a:prstGeom>
          <a:solidFill>
            <a:srgbClr val="14213A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05088" y="1664208"/>
            <a:ext cx="2706624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80" b="1">
                <a:solidFill>
                  <a:srgbClr val="10B981"/>
                </a:solidFill>
                <a:latin typeface="PingFang SC"/>
              </a:rPr>
              <a:t>人工处理与最终结果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112264"/>
            <a:ext cx="1874519" cy="822960"/>
          </a:xfrm>
          <a:prstGeom prst="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212848"/>
            <a:ext cx="1655063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19" b="1">
                <a:solidFill>
                  <a:srgbClr val="9FB0C7"/>
                </a:solidFill>
                <a:latin typeface="PingFang SC"/>
              </a:rPr>
              <a:t>确认项目定位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2112264"/>
            <a:ext cx="2651760" cy="822960"/>
          </a:xfrm>
          <a:prstGeom prst="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52928" y="2212848"/>
            <a:ext cx="2432304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19" b="0">
                <a:solidFill>
                  <a:srgbClr val="F4F7FB"/>
                </a:solidFill>
                <a:latin typeface="PingFang SC"/>
              </a:rPr>
              <a:t>CareAI项目书全文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23560" y="2112264"/>
            <a:ext cx="2743200" cy="822960"/>
          </a:xfrm>
          <a:prstGeom prst="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33288" y="2212848"/>
            <a:ext cx="2523744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19" b="0">
                <a:solidFill>
                  <a:srgbClr val="F4F7FB"/>
                </a:solidFill>
                <a:latin typeface="PingFang SC"/>
              </a:rPr>
              <a:t>指出用户、场景、方案与证据缺口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0" y="2112264"/>
            <a:ext cx="2926080" cy="822960"/>
          </a:xfrm>
          <a:prstGeom prst="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05088" y="2212848"/>
            <a:ext cx="2706624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19" b="0">
                <a:solidFill>
                  <a:srgbClr val="F4F7FB"/>
                </a:solidFill>
                <a:latin typeface="PingFang SC"/>
              </a:rPr>
              <a:t>采用正确定位；删除心理筛查、访谈等幻觉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054096"/>
            <a:ext cx="1874519" cy="822960"/>
          </a:xfrm>
          <a:prstGeom prst="rect">
            <a:avLst/>
          </a:prstGeom>
          <a:solidFill>
            <a:srgbClr val="0C1728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154679"/>
            <a:ext cx="1655063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19" b="1">
                <a:solidFill>
                  <a:srgbClr val="9FB0C7"/>
                </a:solidFill>
                <a:latin typeface="PingFang SC"/>
              </a:rPr>
              <a:t>与阿福比较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3054096"/>
            <a:ext cx="2651760" cy="822960"/>
          </a:xfrm>
          <a:prstGeom prst="rect">
            <a:avLst/>
          </a:prstGeom>
          <a:solidFill>
            <a:srgbClr val="0C1728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52928" y="3154679"/>
            <a:ext cx="2432304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19" b="0">
                <a:solidFill>
                  <a:srgbClr val="F4F7FB"/>
                </a:solidFill>
                <a:latin typeface="PingFang SC"/>
              </a:rPr>
              <a:t>CareAI事实 + 阿福公开资料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23560" y="3054096"/>
            <a:ext cx="2743200" cy="822960"/>
          </a:xfrm>
          <a:prstGeom prst="rect">
            <a:avLst/>
          </a:prstGeom>
          <a:solidFill>
            <a:srgbClr val="0C1728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33288" y="3154679"/>
            <a:ext cx="2523744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19" b="0">
                <a:solidFill>
                  <a:srgbClr val="F4F7FB"/>
                </a:solidFill>
                <a:latin typeface="PingFang SC"/>
              </a:rPr>
              <a:t>差异化假设与对照任务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95360" y="3054096"/>
            <a:ext cx="2926080" cy="822960"/>
          </a:xfrm>
          <a:prstGeom prst="rect">
            <a:avLst/>
          </a:prstGeom>
          <a:solidFill>
            <a:srgbClr val="0C1728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05088" y="3154679"/>
            <a:ext cx="2706624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19" b="0">
                <a:solidFill>
                  <a:srgbClr val="F4F7FB"/>
                </a:solidFill>
                <a:latin typeface="PingFang SC"/>
              </a:rPr>
              <a:t>保留同条件测试；拒绝“已优于阿福”的结论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3995928"/>
            <a:ext cx="1874519" cy="822960"/>
          </a:xfrm>
          <a:prstGeom prst="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096512"/>
            <a:ext cx="1655063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19" b="1">
                <a:solidFill>
                  <a:srgbClr val="9FB0C7"/>
                </a:solidFill>
                <a:latin typeface="PingFang SC"/>
              </a:rPr>
              <a:t>完善项目材料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3995928"/>
            <a:ext cx="2651760" cy="822960"/>
          </a:xfrm>
          <a:prstGeom prst="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52928" y="4096512"/>
            <a:ext cx="2432304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19" b="0">
                <a:solidFill>
                  <a:srgbClr val="F4F7FB"/>
                </a:solidFill>
                <a:latin typeface="PingFang SC"/>
              </a:rPr>
              <a:t>R1—R11评审任务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23560" y="3995928"/>
            <a:ext cx="2743200" cy="822960"/>
          </a:xfrm>
          <a:prstGeom prst="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33288" y="4096512"/>
            <a:ext cx="2523744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19" b="0">
                <a:solidFill>
                  <a:srgbClr val="F4F7FB"/>
                </a:solidFill>
                <a:latin typeface="PingFang SC"/>
              </a:rPr>
              <a:t>逐项依据、缺口和建议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95360" y="3995928"/>
            <a:ext cx="2926080" cy="822960"/>
          </a:xfrm>
          <a:prstGeom prst="rect">
            <a:avLst/>
          </a:prstGeom>
          <a:solidFill>
            <a:srgbClr val="101B2D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05088" y="4096512"/>
            <a:ext cx="2706624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19" b="0">
                <a:solidFill>
                  <a:srgbClr val="F4F7FB"/>
                </a:solidFill>
                <a:latin typeface="PingFang SC"/>
              </a:rPr>
              <a:t>补充边界和验证计划；人工核对来源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148072"/>
            <a:ext cx="10863072" cy="658368"/>
          </a:xfrm>
          <a:prstGeom prst="roundRect">
            <a:avLst/>
          </a:prstGeom>
          <a:solidFill>
            <a:srgbClr val="14213A"/>
          </a:solidFill>
          <a:ln w="10160">
            <a:solidFill>
              <a:srgbClr val="24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6968" y="5349240"/>
            <a:ext cx="960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F59E0B"/>
                </a:solidFill>
                <a:latin typeface="PingFang SC"/>
              </a:rPr>
              <a:t>责任边界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5294376"/>
            <a:ext cx="9107424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30" b="1">
                <a:solidFill>
                  <a:srgbClr val="F4F7FB"/>
                </a:solidFill>
                <a:latin typeface="PingFang SC"/>
              </a:rPr>
              <a:t>VentureAI负责提出分析与反馈；项目组核对事实并决定采纳、拒绝、改写或补充，最终材料由项目组负责。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" y="6263640"/>
            <a:ext cx="104698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70" b="0">
                <a:solidFill>
                  <a:srgbClr val="9FB0C7"/>
                </a:solidFill>
                <a:latin typeface="PingFang SC"/>
              </a:rPr>
              <a:t>其他工具声明：OpenAI Codex协助整理PPT与证据索引；不作为真实用户、市场或临床证据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20040"/>
            <a:ext cx="6583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PingFang SC"/>
              </a:rPr>
              <a:t>B5 / B8 · 稳定性、异常、剩余问题与后续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8356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F4F7FB"/>
                </a:solidFill>
                <a:latin typeface="PingFang SC"/>
              </a:rPr>
              <a:t>优化取舍与剩余问题：已解决关键风险，但没有声称“全部完成”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108356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9FB0C7"/>
                </a:solidFill>
                <a:latin typeface="PingFang SC"/>
              </a:rPr>
              <a:t>B8占10分：说明哪些解决、哪些仍存在、哪些延期，以及下一步优先级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37960"/>
            <a:ext cx="9875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0">
                <a:solidFill>
                  <a:srgbClr val="9FB0C7"/>
                </a:solidFill>
                <a:latin typeface="PingFang SC"/>
              </a:rPr>
              <a:t>助教2 · VentureAI优化与效果 · 2026-09-16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48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2D3EE"/>
                </a:solidFill>
                <a:latin typeface="PingFang SC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2487168" cy="3127248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810512"/>
            <a:ext cx="199339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PingFang SC"/>
              </a:rPr>
              <a:t>已解决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459736"/>
            <a:ext cx="1993392" cy="16733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700"/>
              </a:spcAft>
              <a:defRPr sz="1170" b="0">
                <a:solidFill>
                  <a:srgbClr val="F4F7FB"/>
                </a:solidFill>
                <a:latin typeface="PingFang SC"/>
              </a:defRPr>
            </a:pPr>
            <a:r>
              <a:t>•  项目/会话权限</a:t>
            </a:r>
          </a:p>
          <a:p>
            <a:pPr>
              <a:spcAft>
                <a:spcPts val="700"/>
              </a:spcAft>
              <a:defRPr sz="1170" b="0">
                <a:solidFill>
                  <a:srgbClr val="F4F7FB"/>
                </a:solidFill>
                <a:latin typeface="PingFang SC"/>
              </a:defRPr>
            </a:pPr>
            <a:r>
              <a:t>•  完整材料与事实优先级</a:t>
            </a:r>
          </a:p>
          <a:p>
            <a:pPr>
              <a:spcAft>
                <a:spcPts val="700"/>
              </a:spcAft>
              <a:defRPr sz="1170" b="0">
                <a:solidFill>
                  <a:srgbClr val="F4F7FB"/>
                </a:solidFill>
                <a:latin typeface="PingFang SC"/>
              </a:defRPr>
            </a:pPr>
            <a:r>
              <a:t>•  R1—R11依据</a:t>
            </a:r>
          </a:p>
          <a:p>
            <a:pPr>
              <a:spcAft>
                <a:spcPts val="700"/>
              </a:spcAft>
              <a:defRPr sz="1170" b="0">
                <a:solidFill>
                  <a:srgbClr val="F4F7FB"/>
                </a:solidFill>
                <a:latin typeface="PingFang SC"/>
              </a:defRPr>
            </a:pPr>
            <a:r>
              <a:t>•  run_id与失败留痕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572768"/>
            <a:ext cx="2487168" cy="3127248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1024" y="1810512"/>
            <a:ext cx="199339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PingFang SC"/>
              </a:rPr>
              <a:t>仍存在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1024" y="2459736"/>
            <a:ext cx="1993392" cy="16733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700"/>
              </a:spcAft>
              <a:defRPr sz="1170" b="0">
                <a:solidFill>
                  <a:srgbClr val="F4F7FB"/>
                </a:solidFill>
                <a:latin typeface="PingFang SC"/>
              </a:defRPr>
            </a:pPr>
            <a:r>
              <a:t>•  模型仍可能生成无来源示例</a:t>
            </a:r>
          </a:p>
          <a:p>
            <a:pPr>
              <a:spcAft>
                <a:spcPts val="700"/>
              </a:spcAft>
              <a:defRPr sz="1170" b="0">
                <a:solidFill>
                  <a:srgbClr val="F4F7FB"/>
                </a:solidFill>
                <a:latin typeface="PingFang SC"/>
              </a:defRPr>
            </a:pPr>
            <a:r>
              <a:t>•  部分评分措辞需人工核对</a:t>
            </a:r>
          </a:p>
          <a:p>
            <a:pPr>
              <a:spcAft>
                <a:spcPts val="700"/>
              </a:spcAft>
              <a:defRPr sz="1170" b="0">
                <a:solidFill>
                  <a:srgbClr val="F4F7FB"/>
                </a:solidFill>
                <a:latin typeface="PingFang SC"/>
              </a:defRPr>
            </a:pPr>
            <a:r>
              <a:t>•  长请求仍有等待风险</a:t>
            </a:r>
          </a:p>
          <a:p>
            <a:pPr>
              <a:spcAft>
                <a:spcPts val="700"/>
              </a:spcAft>
              <a:defRPr sz="1170" b="0">
                <a:solidFill>
                  <a:srgbClr val="F4F7FB"/>
                </a:solidFill>
                <a:latin typeface="PingFang SC"/>
              </a:defRPr>
            </a:pPr>
            <a:r>
              <a:t>•  风险提示可能过宽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572768"/>
            <a:ext cx="2487168" cy="3127248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1810512"/>
            <a:ext cx="199339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6366F1"/>
                </a:solidFill>
                <a:latin typeface="PingFang SC"/>
              </a:rPr>
              <a:t>延期/放弃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459736"/>
            <a:ext cx="1993392" cy="16733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700"/>
              </a:spcAft>
              <a:defRPr sz="1170" b="0">
                <a:solidFill>
                  <a:srgbClr val="F4F7FB"/>
                </a:solidFill>
                <a:latin typeface="PingFang SC"/>
              </a:defRPr>
            </a:pPr>
            <a:r>
              <a:t>•  完整全站权限审计</a:t>
            </a:r>
          </a:p>
          <a:p>
            <a:pPr>
              <a:spcAft>
                <a:spcPts val="700"/>
              </a:spcAft>
              <a:defRPr sz="1170" b="0">
                <a:solidFill>
                  <a:srgbClr val="F4F7FB"/>
                </a:solidFill>
                <a:latin typeface="PingFang SC"/>
              </a:defRPr>
            </a:pPr>
            <a:r>
              <a:t>•  历史TypeScript/ESLint清理</a:t>
            </a:r>
          </a:p>
          <a:p>
            <a:pPr>
              <a:spcAft>
                <a:spcPts val="700"/>
              </a:spcAft>
              <a:defRPr sz="1170" b="0">
                <a:solidFill>
                  <a:srgbClr val="F4F7FB"/>
                </a:solidFill>
                <a:latin typeface="PingFang SC"/>
              </a:defRPr>
            </a:pPr>
            <a:r>
              <a:t>•  广泛真实用户测试</a:t>
            </a:r>
          </a:p>
          <a:p>
            <a:pPr>
              <a:spcAft>
                <a:spcPts val="700"/>
              </a:spcAft>
              <a:defRPr sz="1170" b="0">
                <a:solidFill>
                  <a:srgbClr val="F4F7FB"/>
                </a:solidFill>
                <a:latin typeface="PingFang SC"/>
              </a:defRPr>
            </a:pPr>
            <a:r>
              <a:t>•  跨组测试（教师已取消）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87968" y="1572768"/>
            <a:ext cx="2487168" cy="3127248"/>
          </a:xfrm>
          <a:prstGeom prst="roundRect">
            <a:avLst/>
          </a:prstGeom>
          <a:solidFill>
            <a:srgbClr val="101B2D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7424" y="1810512"/>
            <a:ext cx="199339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2D3EE"/>
                </a:solidFill>
                <a:latin typeface="PingFang SC"/>
              </a:rPr>
              <a:t>下一步优先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7424" y="2459736"/>
            <a:ext cx="1993392" cy="16733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700"/>
              </a:spcAft>
              <a:defRPr sz="1170" b="0">
                <a:solidFill>
                  <a:srgbClr val="F4F7FB"/>
                </a:solidFill>
                <a:latin typeface="PingFang SC"/>
              </a:defRPr>
            </a:pPr>
            <a:r>
              <a:t>•  F1/F2/F3随机回归</a:t>
            </a:r>
          </a:p>
          <a:p>
            <a:pPr>
              <a:spcAft>
                <a:spcPts val="700"/>
              </a:spcAft>
              <a:defRPr sz="1170" b="0">
                <a:solidFill>
                  <a:srgbClr val="F4F7FB"/>
                </a:solidFill>
                <a:latin typeface="PingFang SC"/>
              </a:defRPr>
            </a:pPr>
            <a:r>
              <a:t>•  降低评分延迟</a:t>
            </a:r>
          </a:p>
          <a:p>
            <a:pPr>
              <a:spcAft>
                <a:spcPts val="700"/>
              </a:spcAft>
              <a:defRPr sz="1170" b="0">
                <a:solidFill>
                  <a:srgbClr val="F4F7FB"/>
                </a:solidFill>
                <a:latin typeface="PingFang SC"/>
              </a:defRPr>
            </a:pPr>
            <a:r>
              <a:t>•  增强引用定位</a:t>
            </a:r>
          </a:p>
          <a:p>
            <a:pPr>
              <a:spcAft>
                <a:spcPts val="700"/>
              </a:spcAft>
              <a:defRPr sz="1170" b="0">
                <a:solidFill>
                  <a:srgbClr val="F4F7FB"/>
                </a:solidFill>
                <a:latin typeface="PingFang SC"/>
              </a:defRPr>
            </a:pPr>
            <a:r>
              <a:t>•  由教师和项目负责人复核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047488"/>
            <a:ext cx="10863072" cy="713232"/>
          </a:xfrm>
          <a:prstGeom prst="roundRect">
            <a:avLst/>
          </a:prstGeom>
          <a:solidFill>
            <a:srgbClr val="0E2030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5230368"/>
            <a:ext cx="104241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>
                <a:solidFill>
                  <a:srgbClr val="F4F7FB"/>
                </a:solidFill>
                <a:latin typeface="PingFang SC"/>
              </a:rPr>
              <a:t>异常原则：失败不伪装成功；保留状态、错误、重试和人工干预。当前证据含Grader客户端180秒超时后服务端完成并取回的记录。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6263640"/>
            <a:ext cx="104698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70" b="0">
                <a:solidFill>
                  <a:srgbClr val="9FB0C7"/>
                </a:solidFill>
                <a:latin typeface="PingFang SC"/>
              </a:rPr>
              <a:t>验证：18项后端测试、TypeScript检查和生产构建通过；一次固定真实模型运行不能外推为所有提示词下的绝对质量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助教2｜VentureAI优化与实际效果</dc:title>
  <dc:subject>V1到V2优化、F1/F2/F3、贡献、局限和随机抽测</dc:subject>
  <dc:creator>VentureAI项目组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