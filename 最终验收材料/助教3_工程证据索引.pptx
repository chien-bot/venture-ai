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1691640" cy="347472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PingFang SC"/>
              </a:rPr>
              <a:t>助教3 · 现场核验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6583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4F7FB"/>
                </a:solidFill>
                <a:latin typeface="PingFang SC"/>
              </a:rPr>
              <a:t>VentureAI 工程证据索引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139696"/>
            <a:ext cx="749807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PingFang SC"/>
              </a:rPr>
              <a:t>目标：30秒内定位版本、原始运行、失败记录、运行环境与人工修改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063240"/>
            <a:ext cx="3108960" cy="1170432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7132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3F5E"/>
                </a:solidFill>
                <a:latin typeface="PingFang SC"/>
              </a:rP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5064" y="3310128"/>
            <a:ext cx="18653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4F7FB"/>
                </a:solidFill>
                <a:latin typeface="PingFang SC"/>
              </a:rPr>
              <a:t>c456aef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392424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2D3EE"/>
                </a:solidFill>
                <a:latin typeface="PingFang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3063240"/>
            <a:ext cx="3108960" cy="1170432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310128"/>
            <a:ext cx="7132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366F1"/>
                </a:solidFill>
                <a:latin typeface="PingFang SC"/>
              </a:rPr>
              <a:t>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5504" y="3310128"/>
            <a:ext cx="18653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4F7FB"/>
                </a:solidFill>
                <a:latin typeface="PingFang SC"/>
              </a:rPr>
              <a:t>U1—U6真实运行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3392424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2D3EE"/>
                </a:solidFill>
                <a:latin typeface="PingFang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4112" y="3063240"/>
            <a:ext cx="3108960" cy="1170432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3310128"/>
            <a:ext cx="7132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PingFang SC"/>
              </a:rPr>
              <a:t>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5944" y="3310128"/>
            <a:ext cx="18653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4F7FB"/>
                </a:solidFill>
                <a:latin typeface="PingFang SC"/>
              </a:rPr>
              <a:t>2026-09-16 tag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709160"/>
            <a:ext cx="10076688" cy="768096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28616"/>
            <a:ext cx="1234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22D3EE"/>
                </a:solidFill>
                <a:latin typeface="PingFang SC"/>
              </a:rPr>
              <a:t>最终交付版本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882896"/>
            <a:ext cx="46177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PingFang SC"/>
              </a:rPr>
              <a:t>ventureai-v2-stage3-final-2026-09-16 · branch HC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956048"/>
            <a:ext cx="3017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9FB0C7"/>
                </a:solidFill>
                <a:latin typeface="PingFang SC"/>
              </a:rPr>
              <a:t>V2基线仍保留在2026-09-15标签；最终标签加入验收加固与材料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助教3 · 工程证据索引 · 2026-09-16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C1 / C2 / C6 · 可追溯证据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35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4F7FB"/>
                </a:solidFill>
                <a:latin typeface="PingFang SC"/>
              </a:rPr>
              <a:t>原始证据快速定位：版本、运行、失败和三阶段闭环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截图用于说明，JSON、run_id、commit和日志才是可回溯原始证据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助教3 · 工程证据索引 ·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1965960" cy="45720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9344"/>
            <a:ext cx="174650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9FB0C7"/>
                </a:solidFill>
                <a:latin typeface="PingFang SC"/>
              </a:rPr>
              <a:t>检查内容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481328"/>
            <a:ext cx="2670048" cy="45720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1609344"/>
            <a:ext cx="245059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2D3EE"/>
                </a:solidFill>
                <a:latin typeface="PingFang SC"/>
              </a:rPr>
              <a:t>定位标识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81328"/>
            <a:ext cx="5806440" cy="45720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4728" y="1609344"/>
            <a:ext cx="5586983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PingFang SC"/>
              </a:rPr>
              <a:t>文件/目录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002536"/>
            <a:ext cx="1965960" cy="45720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066543"/>
            <a:ext cx="176479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1">
                <a:solidFill>
                  <a:srgbClr val="9FB0C7"/>
                </a:solidFill>
                <a:latin typeface="PingFang SC"/>
              </a:rPr>
              <a:t>V1冻结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002536"/>
            <a:ext cx="2670048" cy="45720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5224" y="2066543"/>
            <a:ext cx="246887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0">
                <a:solidFill>
                  <a:srgbClr val="F4F7FB"/>
                </a:solidFill>
                <a:latin typeface="PingFang SC"/>
              </a:rPr>
              <a:t>c456aef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2002536"/>
            <a:ext cx="5806440" cy="45720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15584" y="2066543"/>
            <a:ext cx="560527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0">
                <a:solidFill>
                  <a:srgbClr val="F4F7FB"/>
                </a:solidFill>
                <a:latin typeface="PingFang SC"/>
              </a:rPr>
              <a:t>stage1_evidence/01_AgentV1/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532888"/>
            <a:ext cx="1965960" cy="457200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2596896"/>
            <a:ext cx="176479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1">
                <a:solidFill>
                  <a:srgbClr val="9FB0C7"/>
                </a:solidFill>
                <a:latin typeface="PingFang SC"/>
              </a:rPr>
              <a:t>V1原始U1—U6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2532888"/>
            <a:ext cx="2670048" cy="457200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35224" y="2596896"/>
            <a:ext cx="246887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0">
                <a:solidFill>
                  <a:srgbClr val="F4F7FB"/>
                </a:solidFill>
                <a:latin typeface="PingFang SC"/>
              </a:rPr>
              <a:t>20260911-192250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2532888"/>
            <a:ext cx="5806440" cy="457200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5584" y="2596896"/>
            <a:ext cx="560527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0">
                <a:solidFill>
                  <a:srgbClr val="F4F7FB"/>
                </a:solidFill>
                <a:latin typeface="PingFang SC"/>
              </a:rPr>
              <a:t>stage2_evidence/05_v1_v2_comparison/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063239"/>
            <a:ext cx="1965960" cy="45720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127247"/>
            <a:ext cx="176479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1">
                <a:solidFill>
                  <a:srgbClr val="9FB0C7"/>
                </a:solidFill>
                <a:latin typeface="PingFang SC"/>
              </a:rPr>
              <a:t>V2原始U1—U6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063239"/>
            <a:ext cx="2670048" cy="45720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35224" y="3127247"/>
            <a:ext cx="246887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0">
                <a:solidFill>
                  <a:srgbClr val="F4F7FB"/>
                </a:solidFill>
                <a:latin typeface="PingFang SC"/>
              </a:rPr>
              <a:t>20260911-193404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3063239"/>
            <a:ext cx="5806440" cy="45720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15584" y="3127247"/>
            <a:ext cx="560527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0">
                <a:solidFill>
                  <a:srgbClr val="F4F7FB"/>
                </a:solidFill>
                <a:latin typeface="PingFang SC"/>
              </a:rPr>
              <a:t>stage2_evidence/04_live_runs/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593591"/>
            <a:ext cx="1965960" cy="457200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657599"/>
            <a:ext cx="176479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1">
                <a:solidFill>
                  <a:srgbClr val="9FB0C7"/>
                </a:solidFill>
                <a:latin typeface="PingFang SC"/>
              </a:rPr>
              <a:t>CareAI修改前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593591"/>
            <a:ext cx="2670048" cy="457200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35224" y="3657599"/>
            <a:ext cx="246887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0">
                <a:solidFill>
                  <a:srgbClr val="F4F7FB"/>
                </a:solidFill>
                <a:latin typeface="PingFang SC"/>
              </a:rPr>
              <a:t>run_3ac45f3de1cb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0" y="3593591"/>
            <a:ext cx="5806440" cy="457200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15584" y="3657599"/>
            <a:ext cx="560527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0">
                <a:solidFill>
                  <a:srgbClr val="F4F7FB"/>
                </a:solidFill>
                <a:latin typeface="PingFang SC"/>
              </a:rPr>
              <a:t>stage2_evidence/06_careai_validation/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123944"/>
            <a:ext cx="1965960" cy="45720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4187952"/>
            <a:ext cx="176479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1">
                <a:solidFill>
                  <a:srgbClr val="9FB0C7"/>
                </a:solidFill>
                <a:latin typeface="PingFang SC"/>
              </a:rPr>
              <a:t>竞品修复后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4123944"/>
            <a:ext cx="2670048" cy="45720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35224" y="4187952"/>
            <a:ext cx="246887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0">
                <a:solidFill>
                  <a:srgbClr val="F4F7FB"/>
                </a:solidFill>
                <a:latin typeface="PingFang SC"/>
              </a:rPr>
              <a:t>run_07a98721bfe5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0" y="4123944"/>
            <a:ext cx="5806440" cy="45720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15584" y="4187952"/>
            <a:ext cx="560527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0">
                <a:solidFill>
                  <a:srgbClr val="F4F7FB"/>
                </a:solidFill>
                <a:latin typeface="PingFang SC"/>
              </a:rPr>
              <a:t>careai-competitor-verified.json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654296"/>
            <a:ext cx="1965960" cy="457200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4718304"/>
            <a:ext cx="176479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1">
                <a:solidFill>
                  <a:srgbClr val="9FB0C7"/>
                </a:solidFill>
                <a:latin typeface="PingFang SC"/>
              </a:rPr>
              <a:t>最终版本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4654296"/>
            <a:ext cx="2670048" cy="457200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35224" y="4718304"/>
            <a:ext cx="246887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0">
                <a:solidFill>
                  <a:srgbClr val="F4F7FB"/>
                </a:solidFill>
                <a:latin typeface="PingFang SC"/>
              </a:rPr>
              <a:t>2026-09-16 tag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5000" y="4654296"/>
            <a:ext cx="5806440" cy="457200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15584" y="4718304"/>
            <a:ext cx="560527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0">
                <a:solidFill>
                  <a:srgbClr val="F4F7FB"/>
                </a:solidFill>
                <a:latin typeface="PingFang SC"/>
              </a:rPr>
              <a:t>ventureai-v2-stage3-final-2026-09-16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184648"/>
            <a:ext cx="1965960" cy="45720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5248656"/>
            <a:ext cx="176479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1">
                <a:solidFill>
                  <a:srgbClr val="9FB0C7"/>
                </a:solidFill>
                <a:latin typeface="PingFang SC"/>
              </a:rPr>
              <a:t>最终测试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4640" y="5184648"/>
            <a:ext cx="2670048" cy="45720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35224" y="5248656"/>
            <a:ext cx="246887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0">
                <a:solidFill>
                  <a:srgbClr val="F4F7FB"/>
                </a:solidFill>
                <a:latin typeface="PingFang SC"/>
              </a:rPr>
              <a:t>18项后端 + TS + build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15000" y="5184648"/>
            <a:ext cx="5806440" cy="45720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15584" y="5248656"/>
            <a:ext cx="560527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40" b="0">
                <a:solidFill>
                  <a:srgbClr val="F4F7FB"/>
                </a:solidFill>
                <a:latin typeface="PingFang SC"/>
              </a:rPr>
              <a:t>stage3_evidence/.../validation-results.txt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" y="6263640"/>
            <a:ext cx="10469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70" b="0">
                <a:solidFill>
                  <a:srgbClr val="9FB0C7"/>
                </a:solidFill>
                <a:latin typeface="PingFang SC"/>
              </a:rPr>
              <a:t>较早的V2运行和失败记录保留在stage2_evidence/04_live_runs/，用于说明修复轨迹；未只保留成功案例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C3 · 运行说明与可复现性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35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4F7FB"/>
                </a:solidFill>
                <a:latin typeface="PingFang SC"/>
              </a:rPr>
              <a:t>部署、运行与复现：入口清楚，异常有备用证据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现场优先运行最终版本；外部服务故障时展示失败状态与同版本历史运行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助教3 · 工程证据索引 ·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3429000" cy="1627632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7824" y="1783080"/>
            <a:ext cx="73152" cy="320040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280720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01  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67712"/>
            <a:ext cx="2971800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9FB0C7"/>
                </a:solidFill>
                <a:latin typeface="PingFang SC"/>
              </a:rPr>
              <a:t>复制环境示例；选择mock离线演示或配置真实模型密钥。密钥只进入服务端环境变量。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554480"/>
            <a:ext cx="3429000" cy="1627632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1783080"/>
            <a:ext cx="73152" cy="320040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1737360"/>
            <a:ext cx="280720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02  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267712"/>
            <a:ext cx="2971800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9FB0C7"/>
                </a:solidFill>
                <a:latin typeface="PingFang SC"/>
              </a:rPr>
              <a:t>安装requirements，启动FastAPI；健康检查：http://localhost:8000/health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429000" cy="1627632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11896" y="1783080"/>
            <a:ext cx="73152" cy="320040"/>
          </a:xfrm>
          <a:prstGeom prst="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1737360"/>
            <a:ext cx="2807207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03  前端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67712"/>
            <a:ext cx="2971800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9FB0C7"/>
                </a:solidFill>
                <a:latin typeface="PingFang SC"/>
              </a:rPr>
              <a:t>安装锁定依赖并启动Next.js；访问：http://localhost:3000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38728"/>
            <a:ext cx="6858000" cy="1901952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767328"/>
            <a:ext cx="1097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PingFang SC"/>
              </a:rPr>
              <a:t>验证命令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242816"/>
            <a:ext cx="6263640" cy="8961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700"/>
              </a:spcAft>
              <a:defRPr sz="1150" b="0">
                <a:solidFill>
                  <a:srgbClr val="F4F7FB"/>
                </a:solidFill>
                <a:latin typeface="PingFang SC"/>
              </a:defRPr>
            </a:pPr>
            <a:r>
              <a:t>•  backend/.venv/bin/python -m unittest discover -s backend/tests -v</a:t>
            </a:r>
          </a:p>
          <a:p>
            <a:pPr>
              <a:spcAft>
                <a:spcPts val="700"/>
              </a:spcAft>
              <a:defRPr sz="1150" b="0">
                <a:solidFill>
                  <a:srgbClr val="F4F7FB"/>
                </a:solidFill>
                <a:latin typeface="PingFang SC"/>
              </a:defRPr>
            </a:pPr>
            <a:r>
              <a:t>•  frontend: npx tsc --noEmit</a:t>
            </a:r>
          </a:p>
          <a:p>
            <a:pPr>
              <a:spcAft>
                <a:spcPts val="700"/>
              </a:spcAft>
              <a:defRPr sz="1150" b="0">
                <a:solidFill>
                  <a:srgbClr val="F4F7FB"/>
                </a:solidFill>
                <a:latin typeface="PingFang SC"/>
              </a:defRPr>
            </a:pPr>
            <a:r>
              <a:t>•  frontend: npm run build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90688" y="3538728"/>
            <a:ext cx="3730752" cy="1901952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3767328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PingFang SC"/>
              </a:rPr>
              <a:t>异常策略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42816"/>
            <a:ext cx="3063240" cy="8961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700"/>
              </a:spcAft>
              <a:defRPr sz="1150" b="0">
                <a:solidFill>
                  <a:srgbClr val="F4F7FB"/>
                </a:solidFill>
                <a:latin typeface="PingFang SC"/>
              </a:defRPr>
            </a:pPr>
            <a:r>
              <a:t>•  不把失败显示成成功</a:t>
            </a:r>
          </a:p>
          <a:p>
            <a:pPr>
              <a:spcAft>
                <a:spcPts val="700"/>
              </a:spcAft>
              <a:defRPr sz="1150" b="0">
                <a:solidFill>
                  <a:srgbClr val="F4F7FB"/>
                </a:solidFill>
                <a:latin typeface="PingFang SC"/>
              </a:defRPr>
            </a:pPr>
            <a:r>
              <a:t>•  保留run_id、状态和错误</a:t>
            </a:r>
          </a:p>
          <a:p>
            <a:pPr>
              <a:spcAft>
                <a:spcPts val="700"/>
              </a:spcAft>
              <a:defRPr sz="1150" b="0">
                <a:solidFill>
                  <a:srgbClr val="F4F7FB"/>
                </a:solidFill>
                <a:latin typeface="PingFang SC"/>
              </a:defRPr>
            </a:pPr>
            <a:r>
              <a:t>•  打开同版本历史运行辅助核验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6263640"/>
            <a:ext cx="10469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70" b="0">
                <a:solidFill>
                  <a:srgbClr val="9FB0C7"/>
                </a:solidFill>
                <a:latin typeface="PingFang SC"/>
              </a:rPr>
              <a:t>完整说明：根目录README.md；依赖：backend/requirements.txt、frontend/package-lock.json；配置：环境示例文件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C4 / C5 · 人机边界、来源与安全诚信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35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4F7FB"/>
                </a:solidFill>
                <a:latin typeface="PingFang SC"/>
              </a:rPr>
              <a:t>可信性边界：来源、模拟、人工判断与其他工具全部可说明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允许使用Agent和生成式AI；关键是说明各自作用，并由项目组承担最终责任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助教3 · 工程证据索引 ·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5230368" cy="116128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73936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PingFang SC"/>
              </a:rPr>
              <a:t>VentureAI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85415" y="1746504"/>
            <a:ext cx="33832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概念辅导、项目指导、R1—R11评审、证据缺口与下一步建议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572768"/>
            <a:ext cx="5230368" cy="116128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773936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PingFang SC"/>
              </a:rPr>
              <a:t>项目组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1816" y="1746504"/>
            <a:ext cx="33832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核对事实；采纳、拒绝、改写和补充；决定最终项目结论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990088"/>
            <a:ext cx="5230368" cy="116128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191256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PingFang SC"/>
              </a:rPr>
              <a:t>CareAI代码/测试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5" y="3163824"/>
            <a:ext cx="33832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证明功能存在与可运行；不证明真实用户效果、市场需求或临床有效性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2990088"/>
            <a:ext cx="5230368" cy="116128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3191256"/>
            <a:ext cx="12344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PingFang SC"/>
              </a:rPr>
              <a:t>OpenAI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6" y="3163824"/>
            <a:ext cx="33832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协助分析仓库、整理结构、生成PPT和索引；不作为项目事实来源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608576"/>
            <a:ext cx="10863072" cy="1078992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828032"/>
            <a:ext cx="1097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PingFang SC"/>
              </a:rPr>
              <a:t>四条红线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9112" y="4773168"/>
            <a:ext cx="9015984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F4F7FB"/>
                </a:solidFill>
                <a:latin typeface="PingFang SC"/>
              </a:rPr>
              <a:t>模拟S不得冒充真实调研｜Agent引用必须回到来源｜不得隐藏人工修改｜代码、日志和PPT不得暴露有效密钥或敏感信息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6263640"/>
            <a:ext cx="10469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70" b="0">
                <a:solidFill>
                  <a:srgbClr val="9FB0C7"/>
                </a:solidFill>
                <a:latin typeface="PingFang SC"/>
              </a:rPr>
              <a:t>现场主索引：最终验收材料/助教3_现场证据索引.md；三阶段材料分别位于stage1_evidence、stage2_evidence、stage3_evidence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助教3｜VentureAI工程证据索引</dc:title>
  <dc:subject>版本、原始运行、部署、人机边界、来源和三阶段证据链</dc:subject>
  <dc:creator>VentureAI项目组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