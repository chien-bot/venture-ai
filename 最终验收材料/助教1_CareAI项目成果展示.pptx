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pps.apple.com/cn/app/id6743828427" TargetMode="External"/><Relationship Id="rId3" Type="http://schemas.openxmlformats.org/officeDocument/2006/relationships/hyperlink" Target="https://paper.people.com.cn/rmrb/pc/content/202512/16/content_30124850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1508760" cy="34747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PingFang SC"/>
              </a:rPr>
              <a:t>助教1 · 项目成果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571500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4F7FB"/>
                </a:solidFill>
                <a:latin typeface="PingFang SC"/>
              </a:rPr>
              <a:t>CareAI：从健康数据到可执行行动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770632"/>
            <a:ext cx="544068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PingFang SC"/>
              </a:rPr>
              <a:t>面向成年人的非诊断性健康教育与习惯管理助手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977639"/>
            <a:ext cx="525780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800"/>
              </a:spcAft>
              <a:defRPr sz="1250" b="0">
                <a:solidFill>
                  <a:srgbClr val="F4F7FB"/>
                </a:solidFill>
                <a:latin typeface="PingFang SC"/>
              </a:defRPr>
            </a:pPr>
            <a:r>
              <a:t>•  项目成果与逻辑可独立核验</a:t>
            </a:r>
          </a:p>
          <a:p>
            <a:pPr>
              <a:spcAft>
                <a:spcPts val="800"/>
              </a:spcAft>
              <a:defRPr sz="1250" b="0">
                <a:solidFill>
                  <a:srgbClr val="F4F7FB"/>
                </a:solidFill>
                <a:latin typeface="PingFang SC"/>
              </a:defRPr>
            </a:pPr>
            <a:r>
              <a:t>•  目标用户：高校成年学生及初入职场年轻成年人（H）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47104" y="832103"/>
            <a:ext cx="4965192" cy="4599432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reai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2377"/>
            <a:ext cx="4892040" cy="24188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0" y="5532120"/>
            <a:ext cx="4892040" cy="512064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5669280"/>
            <a:ext cx="44988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9FB0C7"/>
                </a:solidFill>
                <a:latin typeface="PingFang SC"/>
              </a:rPr>
              <a:t>真实产品截图｜当前可演示MVP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助教1 · CareAI项目成果 · 2026-09-16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A1 · 项目基础与后续迭代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从第一阶段立项到最终MVP：方向保持，闭环变深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每项变化都对应使用连续性、证据追溯或安全边界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助教1 · CareAI项目成果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81912"/>
            <a:ext cx="3438144" cy="306324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548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2D3EE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37943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第一阶段立项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87168"/>
            <a:ext cx="2834640" cy="1691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800"/>
              </a:spcAft>
              <a:defRPr sz="1350" b="0">
                <a:solidFill>
                  <a:srgbClr val="F4F7FB"/>
                </a:solidFill>
                <a:latin typeface="PingFang SC"/>
              </a:defRPr>
            </a:pPr>
            <a:r>
              <a:t>•  基础录入</a:t>
            </a:r>
          </a:p>
          <a:p>
            <a:pPr>
              <a:spcAft>
                <a:spcPts val="800"/>
              </a:spcAft>
              <a:defRPr sz="1350" b="0">
                <a:solidFill>
                  <a:srgbClr val="F4F7FB"/>
                </a:solidFill>
                <a:latin typeface="PingFang SC"/>
              </a:defRPr>
            </a:pPr>
            <a:r>
              <a:t>•  规则提示</a:t>
            </a:r>
          </a:p>
          <a:p>
            <a:pPr>
              <a:spcAft>
                <a:spcPts val="800"/>
              </a:spcAft>
              <a:defRPr sz="1350" b="0">
                <a:solidFill>
                  <a:srgbClr val="F4F7FB"/>
                </a:solidFill>
                <a:latin typeface="PingFang SC"/>
              </a:defRPr>
            </a:pPr>
            <a:r>
              <a:t>•  受限AI解释</a:t>
            </a:r>
          </a:p>
          <a:p>
            <a:pPr>
              <a:spcAft>
                <a:spcPts val="800"/>
              </a:spcAft>
              <a:defRPr sz="1350" b="0">
                <a:solidFill>
                  <a:srgbClr val="F4F7FB"/>
                </a:solidFill>
                <a:latin typeface="PingFang SC"/>
              </a:defRPr>
            </a:pPr>
            <a:r>
              <a:t>•  7天计划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9936" y="2852928"/>
            <a:ext cx="29260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PingFang S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81912"/>
            <a:ext cx="3438144" cy="306324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828800"/>
            <a:ext cx="548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6366F1"/>
                </a:solidFill>
                <a:latin typeface="PingFang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837943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后续实现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87168"/>
            <a:ext cx="2834640" cy="1691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800"/>
              </a:spcAft>
              <a:defRPr sz="1350" b="0">
                <a:solidFill>
                  <a:srgbClr val="F4F7FB"/>
                </a:solidFill>
                <a:latin typeface="PingFang SC"/>
              </a:defRPr>
            </a:pPr>
            <a:r>
              <a:t>•  个人档案隔离</a:t>
            </a:r>
          </a:p>
          <a:p>
            <a:pPr>
              <a:spcAft>
                <a:spcPts val="800"/>
              </a:spcAft>
              <a:defRPr sz="1350" b="0">
                <a:solidFill>
                  <a:srgbClr val="F4F7FB"/>
                </a:solidFill>
                <a:latin typeface="PingFang SC"/>
              </a:defRPr>
            </a:pPr>
            <a:r>
              <a:t>•  时间轴与多点趋势</a:t>
            </a:r>
          </a:p>
          <a:p>
            <a:pPr>
              <a:spcAft>
                <a:spcPts val="800"/>
              </a:spcAft>
              <a:defRPr sz="1350" b="0">
                <a:solidFill>
                  <a:srgbClr val="F4F7FB"/>
                </a:solidFill>
                <a:latin typeface="PingFang SC"/>
              </a:defRPr>
            </a:pPr>
            <a:r>
              <a:t>•  计划持久化与复盘</a:t>
            </a:r>
          </a:p>
          <a:p>
            <a:pPr>
              <a:spcAft>
                <a:spcPts val="800"/>
              </a:spcAft>
              <a:defRPr sz="1350" b="0">
                <a:solidFill>
                  <a:srgbClr val="F4F7FB"/>
                </a:solidFill>
                <a:latin typeface="PingFang SC"/>
              </a:defRPr>
            </a:pPr>
            <a:r>
              <a:t>•  医生摘要API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4968" y="2852928"/>
            <a:ext cx="29260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2D3EE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2" y="1581912"/>
            <a:ext cx="3438144" cy="306324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828800"/>
            <a:ext cx="548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0B981"/>
                </a:solidFill>
                <a:latin typeface="PingFang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1837943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最终取舍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487168"/>
            <a:ext cx="2834640" cy="1691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800"/>
              </a:spcAft>
              <a:defRPr sz="1350" b="0">
                <a:solidFill>
                  <a:srgbClr val="F4F7FB"/>
                </a:solidFill>
                <a:latin typeface="PingFang SC"/>
              </a:defRPr>
            </a:pPr>
            <a:r>
              <a:t>•  理解确认与证据卡</a:t>
            </a:r>
          </a:p>
          <a:p>
            <a:pPr>
              <a:spcAft>
                <a:spcPts val="800"/>
              </a:spcAft>
              <a:defRPr sz="1350" b="0">
                <a:solidFill>
                  <a:srgbClr val="F4F7FB"/>
                </a:solidFill>
                <a:latin typeface="PingFang SC"/>
              </a:defRPr>
            </a:pPr>
            <a:r>
              <a:t>•  单变量7天行动实验</a:t>
            </a:r>
          </a:p>
          <a:p>
            <a:pPr>
              <a:spcAft>
                <a:spcPts val="800"/>
              </a:spcAft>
              <a:defRPr sz="1350" b="0">
                <a:solidFill>
                  <a:srgbClr val="F4F7FB"/>
                </a:solidFill>
                <a:latin typeface="PingFang SC"/>
              </a:defRPr>
            </a:pPr>
            <a:r>
              <a:t>•  隐私开关、导出与删除</a:t>
            </a:r>
          </a:p>
          <a:p>
            <a:pPr>
              <a:spcAft>
                <a:spcPts val="800"/>
              </a:spcAft>
              <a:defRPr sz="1350" b="0">
                <a:solidFill>
                  <a:srgbClr val="F4F7FB"/>
                </a:solidFill>
                <a:latin typeface="PingFang SC"/>
              </a:defRPr>
            </a:pPr>
            <a:r>
              <a:t>•  延期OCR/设备/医疗接入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983480"/>
            <a:ext cx="10863072" cy="786384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5202936"/>
            <a:ext cx="10424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4F7FB"/>
                </a:solidFill>
                <a:latin typeface="PingFang SC"/>
              </a:rPr>
              <a:t>变化原因：把一次性报告升级为连续习惯管理，同时把医疗、隐私和模型能力限制写进产品流程。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证据：Stage 1项目书；Stage 2进度（当时17项测试）；最终版本24项后端测试、前端构建通过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A2 / A3 · 用户问题与解决方案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最终解决方案：规则负责判断，AI负责解释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用一条可追溯链路回应“看得懂、知道为什么、下一步能行动”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助教1 · CareAI项目成果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1188720" cy="3182112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828800"/>
            <a:ext cx="411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313432"/>
            <a:ext cx="868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907792"/>
            <a:ext cx="877824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身高、体重、睡眠、运动
可选血压/血糖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7943" y="2935224"/>
            <a:ext cx="2011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PingFang S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48256" y="1627632"/>
            <a:ext cx="1188720" cy="3182112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03704" y="1828800"/>
            <a:ext cx="411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3704" y="2313432"/>
            <a:ext cx="868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3704" y="2907792"/>
            <a:ext cx="877824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本地计算与三级提示
来源和触发原因可查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935224"/>
            <a:ext cx="2011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PingFang S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8144" y="1627632"/>
            <a:ext cx="1188720" cy="3182112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1" y="1828800"/>
            <a:ext cx="411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1" y="2313432"/>
            <a:ext cx="868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受限AI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1" y="2907792"/>
            <a:ext cx="877824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只解释既有提示
不能新增诊断或风险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935224"/>
            <a:ext cx="2011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28032" y="1627632"/>
            <a:ext cx="1188720" cy="3182112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1828800"/>
            <a:ext cx="411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313432"/>
            <a:ext cx="868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行动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2907792"/>
            <a:ext cx="877824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理解确认
单变量7天行动计划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8" y="2935224"/>
            <a:ext cx="20116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PingFang S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627632"/>
            <a:ext cx="1188720" cy="3182112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1828800"/>
            <a:ext cx="411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PingFang SC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313432"/>
            <a:ext cx="8686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4F7FB"/>
                </a:solidFill>
                <a:latin typeface="PingFang SC"/>
              </a:rPr>
              <a:t>回顾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907792"/>
            <a:ext cx="877824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历史趋势、复盘
差异与版本链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81544" y="1591056"/>
            <a:ext cx="3776472" cy="3255264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areai-report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303128"/>
            <a:ext cx="3703320" cy="183111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58368" y="5138928"/>
            <a:ext cx="10863072" cy="603504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5330952"/>
            <a:ext cx="104424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20" b="1">
                <a:solidFill>
                  <a:srgbClr val="F59E0B"/>
                </a:solidFill>
                <a:latin typeface="PingFang SC"/>
              </a:rPr>
              <a:t>明确不解决：急症、疾病诊断、治疗决策、处方、药物剂量、未成年人健康管理。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证据：CareAI项目书；源码 risk_rules.py / health_report_agent.py；CareAI真实报告页截图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A3 · 创新与替代方案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创新不等于“用了AI”：CareAI选择可解释的细分体验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阿福的生态与规模更强；CareAI聚焦简单、透明和建议可追溯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助教1 · CareAI项目成果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17904"/>
            <a:ext cx="2331720" cy="493776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64208"/>
            <a:ext cx="2075687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9FB0C7"/>
                </a:solidFill>
                <a:latin typeface="PingFang SC"/>
              </a:rPr>
              <a:t>维度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517904"/>
            <a:ext cx="3703320" cy="493776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8416" y="1664208"/>
            <a:ext cx="3447287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22D3EE"/>
                </a:solidFill>
                <a:latin typeface="PingFang SC"/>
              </a:rPr>
              <a:t>CareAI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517904"/>
            <a:ext cx="4389120" cy="493776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0336" y="1664208"/>
            <a:ext cx="4133087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0B981"/>
                </a:solidFill>
                <a:latin typeface="PingFang SC"/>
              </a:rPr>
              <a:t>蚂蚁阿福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093976"/>
            <a:ext cx="2331720" cy="603504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211226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9FB0C7"/>
                </a:solidFill>
                <a:latin typeface="PingFang SC"/>
              </a:rPr>
              <a:t>核心价值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093976"/>
            <a:ext cx="3703320" cy="603504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185416"/>
            <a:ext cx="348386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F4F7FB"/>
                </a:solidFill>
                <a:latin typeface="PingFang SC"/>
              </a:rPr>
              <a:t>规则可追溯 + 受限解释 + 7天行动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093976"/>
            <a:ext cx="4389120" cy="603504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2185416"/>
            <a:ext cx="416966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F4F7FB"/>
                </a:solidFill>
                <a:latin typeface="PingFang SC"/>
              </a:rPr>
              <a:t>家庭健康档案 + 健康服务生态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807208"/>
            <a:ext cx="2331720" cy="603504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898648"/>
            <a:ext cx="211226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9FB0C7"/>
                </a:solidFill>
                <a:latin typeface="PingFang SC"/>
              </a:rPr>
              <a:t>AI角色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807208"/>
            <a:ext cx="3703320" cy="603504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898648"/>
            <a:ext cx="348386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F4F7FB"/>
                </a:solidFill>
                <a:latin typeface="PingFang SC"/>
              </a:rPr>
              <a:t>规则给结论，AI负责表达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807208"/>
            <a:ext cx="4389120" cy="603504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2898648"/>
            <a:ext cx="416966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F4F7FB"/>
                </a:solidFill>
                <a:latin typeface="PingFang SC"/>
              </a:rPr>
              <a:t>咨询、报告解读与个性化服务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520440"/>
            <a:ext cx="2331720" cy="603504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611880"/>
            <a:ext cx="211226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9FB0C7"/>
                </a:solidFill>
                <a:latin typeface="PingFang SC"/>
              </a:rPr>
              <a:t>适合用户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520440"/>
            <a:ext cx="3703320" cy="603504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611880"/>
            <a:ext cx="348386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F4F7FB"/>
                </a:solidFill>
                <a:latin typeface="PingFang SC"/>
              </a:rPr>
              <a:t>重视简单、透明、可复核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3520440"/>
            <a:ext cx="4389120" cy="603504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2048" y="3611880"/>
            <a:ext cx="416966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F4F7FB"/>
                </a:solidFill>
                <a:latin typeface="PingFang SC"/>
              </a:rPr>
              <a:t>需要家庭档案与医疗服务连接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233672"/>
            <a:ext cx="2331720" cy="603504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325112"/>
            <a:ext cx="211226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9FB0C7"/>
                </a:solidFill>
                <a:latin typeface="PingFang SC"/>
              </a:rPr>
              <a:t>当前证据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233672"/>
            <a:ext cx="3703320" cy="603504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325112"/>
            <a:ext cx="348386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F4F7FB"/>
                </a:solidFill>
                <a:latin typeface="PingFang SC"/>
              </a:rPr>
              <a:t>功能可运行；无真实偏好或效果数据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4233672"/>
            <a:ext cx="4389120" cy="603504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4325112"/>
            <a:ext cx="4169663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F4F7FB"/>
                </a:solidFill>
                <a:latin typeface="PingFang SC"/>
              </a:rPr>
              <a:t>公开产品能力可查；体验仍需同条件实测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212080"/>
            <a:ext cx="10863072" cy="521207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5349240"/>
            <a:ext cx="10469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70" b="1">
                <a:solidFill>
                  <a:srgbClr val="F4F7FB"/>
                </a:solidFill>
                <a:latin typeface="PingFang SC"/>
              </a:rPr>
              <a:t>公平验证：同一虚构资料、同一任务、交换顺序、同一指标；理解与行动更好且边界误解不增加，才支持优势主张。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5943600"/>
            <a:ext cx="23774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u="sng">
                <a:solidFill>
                  <a:srgbClr val="9FB0C7"/>
                </a:solidFill>
                <a:latin typeface="PingFang SC"/>
                <a:hlinkClick r:id="rId2"/>
              </a:rPr>
              <a:t>阿福来源：App Store产品页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5943600"/>
            <a:ext cx="374903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u="sng">
                <a:solidFill>
                  <a:srgbClr val="9FB0C7"/>
                </a:solidFill>
                <a:latin typeface="PingFang SC"/>
                <a:hlinkClick r:id="rId3"/>
              </a:rPr>
              <a:t>公开资料：人民日报（数据来源：蚂蚁集团）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5943600"/>
            <a:ext cx="23774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9FB0C7"/>
                </a:solidFill>
                <a:latin typeface="PingFang SC"/>
              </a:rPr>
              <a:t>核对日期：2026-09-15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A4 · 项目证据与验证逻辑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证据、假设与验证：知道什么，也知道还不知道什么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F/I/H/S分层，避免把代码存在、模拟输出或Agent建议写成市场事实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助教1 · CareAI项目成果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2487168" cy="2615184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19656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PingFang SC"/>
              </a:rPr>
              <a:t>F · 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2011680" cy="12344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  <a:defRPr sz="1230" b="0">
                <a:solidFill>
                  <a:srgbClr val="F4F7FB"/>
                </a:solidFill>
                <a:latin typeface="PingFang SC"/>
              </a:defRPr>
            </a:pPr>
            <a:r>
              <a:t>•  产品流程和代码可核查</a:t>
            </a:r>
          </a:p>
          <a:p>
            <a:pPr>
              <a:spcAft>
                <a:spcPts val="700"/>
              </a:spcAft>
              <a:defRPr sz="1230" b="0">
                <a:solidFill>
                  <a:srgbClr val="F4F7FB"/>
                </a:solidFill>
                <a:latin typeface="PingFang SC"/>
              </a:defRPr>
            </a:pPr>
            <a:r>
              <a:t>•  24项后端测试 + 前端构建</a:t>
            </a:r>
          </a:p>
          <a:p>
            <a:pPr>
              <a:spcAft>
                <a:spcPts val="700"/>
              </a:spcAft>
              <a:defRPr sz="1230" b="0">
                <a:solidFill>
                  <a:srgbClr val="F4F7FB"/>
                </a:solidFill>
                <a:latin typeface="PingFang SC"/>
              </a:defRPr>
            </a:pPr>
            <a:r>
              <a:t>•  权威公共健康与隐私来源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572768"/>
            <a:ext cx="2487168" cy="2615184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819656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PingFang SC"/>
              </a:rPr>
              <a:t>I · 推断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450592"/>
            <a:ext cx="2011680" cy="12344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  <a:defRPr sz="1230" b="0">
                <a:solidFill>
                  <a:srgbClr val="F4F7FB"/>
                </a:solidFill>
                <a:latin typeface="PingFang SC"/>
              </a:defRPr>
            </a:pPr>
            <a:r>
              <a:t>•  规则解释与行动计划组合</a:t>
            </a:r>
          </a:p>
          <a:p>
            <a:pPr>
              <a:spcAft>
                <a:spcPts val="700"/>
              </a:spcAft>
              <a:defRPr sz="1230" b="0">
                <a:solidFill>
                  <a:srgbClr val="F4F7FB"/>
                </a:solidFill>
                <a:latin typeface="PingFang SC"/>
              </a:defRPr>
            </a:pPr>
            <a:r>
              <a:t>•  可能降低理解和行动门槛</a:t>
            </a:r>
          </a:p>
          <a:p>
            <a:pPr>
              <a:spcAft>
                <a:spcPts val="700"/>
              </a:spcAft>
              <a:defRPr sz="1230" b="0">
                <a:solidFill>
                  <a:srgbClr val="F4F7FB"/>
                </a:solidFill>
                <a:latin typeface="PingFang SC"/>
              </a:defRPr>
            </a:pPr>
            <a:r>
              <a:t>•  仍需用户任务验证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572768"/>
            <a:ext cx="2487168" cy="2615184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819656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PingFang SC"/>
              </a:rPr>
              <a:t>H · 假设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50592"/>
            <a:ext cx="2011680" cy="12344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  <a:defRPr sz="1230" b="0">
                <a:solidFill>
                  <a:srgbClr val="F4F7FB"/>
                </a:solidFill>
                <a:latin typeface="PingFang SC"/>
              </a:defRPr>
            </a:pPr>
            <a:r>
              <a:t>•  用户愿意持续记录</a:t>
            </a:r>
          </a:p>
          <a:p>
            <a:pPr>
              <a:spcAft>
                <a:spcPts val="700"/>
              </a:spcAft>
              <a:defRPr sz="1230" b="0">
                <a:solidFill>
                  <a:srgbClr val="F4F7FB"/>
                </a:solidFill>
                <a:latin typeface="PingFang SC"/>
              </a:defRPr>
            </a:pPr>
            <a:r>
              <a:t>•  能理解非诊断边界</a:t>
            </a:r>
          </a:p>
          <a:p>
            <a:pPr>
              <a:spcAft>
                <a:spcPts val="700"/>
              </a:spcAft>
              <a:defRPr sz="1230" b="0">
                <a:solidFill>
                  <a:srgbClr val="F4F7FB"/>
                </a:solidFill>
                <a:latin typeface="PingFang SC"/>
              </a:defRPr>
            </a:pPr>
            <a:r>
              <a:t>•  7天计划具有可执行性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1572768"/>
            <a:ext cx="2487168" cy="2615184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819656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  <a:latin typeface="PingFang SC"/>
              </a:rPr>
              <a:t>S · 模拟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450592"/>
            <a:ext cx="2011680" cy="12344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  <a:defRPr sz="1230" b="0">
                <a:solidFill>
                  <a:srgbClr val="F4F7FB"/>
                </a:solidFill>
                <a:latin typeface="PingFang SC"/>
              </a:defRPr>
            </a:pPr>
            <a:r>
              <a:t>•  Agent角色扮演和模拟评分</a:t>
            </a:r>
          </a:p>
          <a:p>
            <a:pPr>
              <a:spcAft>
                <a:spcPts val="700"/>
              </a:spcAft>
              <a:defRPr sz="1230" b="0">
                <a:solidFill>
                  <a:srgbClr val="F4F7FB"/>
                </a:solidFill>
                <a:latin typeface="PingFang SC"/>
              </a:defRPr>
            </a:pPr>
            <a:r>
              <a:t>•  只用于测试流程与提出问题</a:t>
            </a:r>
          </a:p>
          <a:p>
            <a:pPr>
              <a:spcAft>
                <a:spcPts val="700"/>
              </a:spcAft>
              <a:defRPr sz="1230" b="0">
                <a:solidFill>
                  <a:srgbClr val="F4F7FB"/>
                </a:solidFill>
                <a:latin typeface="PingFang SC"/>
              </a:defRPr>
            </a:pPr>
            <a:r>
              <a:t>•  不能当用户或市场证据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26280"/>
            <a:ext cx="10863072" cy="1078992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754880"/>
            <a:ext cx="1508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PingFang SC"/>
              </a:rPr>
              <a:t>下一步低风险验证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4690872"/>
            <a:ext cx="85496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1">
                <a:solidFill>
                  <a:srgbClr val="F4F7FB"/>
                </a:solidFill>
                <a:latin typeface="PingFang SC"/>
              </a:rPr>
              <a:t>完成授权与隐私审查后，邀请5—8名成年志愿者完成录入、报告理解和边界复述；记录完成率、耗时、误解点与人工求助。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当前未开展：真实问卷、访谈、用户试用、订单、收入、合作、临床验证或专业阈值复核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A5 / A6 · 实施路径、风险与现场理解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可行性与风险：先在低风险教育场景验证，再决定是否扩大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技术闭环已经存在；合规、专业复核和真实采用仍是进入真实场景的门槛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助教1 · CareAI项目成果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429000" cy="1426464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73936"/>
            <a:ext cx="731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PingFang SC"/>
              </a:rPr>
              <a:t>现在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55648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PingFang SC"/>
              </a:rPr>
              <a:t>课堂演示MVP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React + FastAPI + SQLite
规则层可独立运行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72768"/>
            <a:ext cx="3429000" cy="1426464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73936"/>
            <a:ext cx="731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PingFang SC"/>
              </a:rPr>
              <a:t>下一步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2" y="1755648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PingFang SC"/>
              </a:rPr>
              <a:t>合规可用性测试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86000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授权、隐私告知
5—8名成年志愿者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572768"/>
            <a:ext cx="3429000" cy="1426464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773936"/>
            <a:ext cx="731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PingFang SC"/>
              </a:rPr>
              <a:t>之后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1755648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4F7FB"/>
                </a:solidFill>
                <a:latin typeface="PingFang SC"/>
              </a:rPr>
              <a:t>专业复核与试点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286000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PingFang SC"/>
              </a:rPr>
              <a:t>复核阈值和文案
校园/企业健康教育（H）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64992"/>
            <a:ext cx="5230368" cy="82296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529584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PingFang SC"/>
              </a:rPr>
              <a:t>医疗误解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6815" y="3493008"/>
            <a:ext cx="3675887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>
                <a:solidFill>
                  <a:srgbClr val="9FB0C7"/>
                </a:solidFill>
                <a:latin typeface="PingFang SC"/>
              </a:rPr>
              <a:t>非诊断定位、规则/生成分层；上线前专业复核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364992"/>
            <a:ext cx="5230368" cy="82296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3529584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PingFang SC"/>
              </a:rPr>
              <a:t>敏感数据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493008"/>
            <a:ext cx="3675887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>
                <a:solidFill>
                  <a:srgbClr val="9FB0C7"/>
                </a:solidFill>
                <a:latin typeface="PingFang SC"/>
              </a:rPr>
              <a:t>最小化采集；补足授权、删除、保存期限与访问控制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16552"/>
            <a:ext cx="5230368" cy="82296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581144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PingFang SC"/>
              </a:rPr>
              <a:t>模型/网络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6815" y="4544568"/>
            <a:ext cx="3675887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>
                <a:solidFill>
                  <a:srgbClr val="9FB0C7"/>
                </a:solidFill>
                <a:latin typeface="PingFang SC"/>
              </a:rPr>
              <a:t>规则接口可独立演示；AI失败明确报错且不保存报告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4416552"/>
            <a:ext cx="5230368" cy="82296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581144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PingFang SC"/>
              </a:rPr>
              <a:t>商业证据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4544568"/>
            <a:ext cx="3675887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>
                <a:solidFill>
                  <a:srgbClr val="9FB0C7"/>
                </a:solidFill>
                <a:latin typeface="PingFang SC"/>
              </a:rPr>
              <a:t>当前无收入或支付意愿；先验证理解与使用，再讨论模式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63072" cy="384048"/>
          </a:xfrm>
          <a:prstGeom prst="roundRect">
            <a:avLst/>
          </a:prstGeom>
          <a:solidFill>
            <a:srgbClr val="10B981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660136"/>
            <a:ext cx="104973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08111F"/>
                </a:solidFill>
                <a:latin typeface="PingFang SC"/>
              </a:rPr>
              <a:t>结论：项目价值是可解释的健康教育闭环；当前最大任务是验证理解、安全边界与持续使用，而不是扩大医疗能力。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现场追问准备：为什么选该用户｜为什么不用通用AI｜最大假设是什么｜为什么延期OCR和医疗接入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助教1｜CareAI项目成果展示</dc:title>
  <dc:subject>项目成果、迭代、证据、可行性与风险</dc:subject>
  <dc:creator>VentureAI项目组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