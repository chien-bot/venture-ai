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VentureAI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创新创业教学智能体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BB8"/>
                </a:solidFill>
              </a:rPr>
              <a:t>基于知识图谱与超图的双创 AI 教育平台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931920" y="502920"/>
            <a:ext cx="4846320" cy="420624"/>
          </a:xfrm>
          <a:prstGeom prst="rect">
            <a:avLst/>
          </a:prstGeom>
          <a:solidFill>
            <a:srgbClr val="162A42">
              <a:alpha val="80000"/>
            </a:srgbClr>
          </a:solidFill>
          <a:ln w="12700">
            <a:solidFill>
              <a:srgbClr val="162A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0" y="502920"/>
            <a:ext cx="64008" cy="42062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5394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01  完整场景演示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051560"/>
            <a:ext cx="4846320" cy="420624"/>
          </a:xfrm>
          <a:prstGeom prst="rect">
            <a:avLst/>
          </a:prstGeom>
          <a:solidFill>
            <a:srgbClr val="162A42">
              <a:alpha val="80000"/>
            </a:srgbClr>
          </a:solidFill>
          <a:ln w="12700">
            <a:solidFill>
              <a:srgbClr val="162A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1051560"/>
            <a:ext cx="64008" cy="42062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08813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02  全量 Prompt 体系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1600200"/>
            <a:ext cx="4846320" cy="420624"/>
          </a:xfrm>
          <a:prstGeom prst="rect">
            <a:avLst/>
          </a:prstGeom>
          <a:solidFill>
            <a:srgbClr val="162A42">
              <a:alpha val="80000"/>
            </a:srgbClr>
          </a:solidFill>
          <a:ln w="12700">
            <a:solidFill>
              <a:srgbClr val="162A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1600200"/>
            <a:ext cx="64008" cy="42062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163677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03  知识图谱 &amp; 评估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2148840"/>
            <a:ext cx="4846320" cy="420624"/>
          </a:xfrm>
          <a:prstGeom prst="rect">
            <a:avLst/>
          </a:prstGeom>
          <a:solidFill>
            <a:srgbClr val="162A42">
              <a:alpha val="80000"/>
            </a:srgbClr>
          </a:solidFill>
          <a:ln w="12700">
            <a:solidFill>
              <a:srgbClr val="162A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2148840"/>
            <a:ext cx="64008" cy="42062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218541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04  超图 &amp; 评估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2697480"/>
            <a:ext cx="4846320" cy="420624"/>
          </a:xfrm>
          <a:prstGeom prst="rect">
            <a:avLst/>
          </a:prstGeom>
          <a:solidFill>
            <a:srgbClr val="162A42">
              <a:alpha val="80000"/>
            </a:srgbClr>
          </a:solidFill>
          <a:ln w="12700">
            <a:solidFill>
              <a:srgbClr val="162A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2697480"/>
            <a:ext cx="64008" cy="42062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273405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05  引用正确性验证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3246120"/>
            <a:ext cx="4846320" cy="420624"/>
          </a:xfrm>
          <a:prstGeom prst="rect">
            <a:avLst/>
          </a:prstGeom>
          <a:solidFill>
            <a:srgbClr val="162A42">
              <a:alpha val="80000"/>
            </a:srgbClr>
          </a:solidFill>
          <a:ln w="12700">
            <a:solidFill>
              <a:srgbClr val="162A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31920" y="3246120"/>
            <a:ext cx="64008" cy="42062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32826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06  用户·角色·权限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31920" y="3794760"/>
            <a:ext cx="4846320" cy="420624"/>
          </a:xfrm>
          <a:prstGeom prst="rect">
            <a:avLst/>
          </a:prstGeom>
          <a:solidFill>
            <a:srgbClr val="162A42">
              <a:alpha val="80000"/>
            </a:srgbClr>
          </a:solidFill>
          <a:ln w="12700">
            <a:solidFill>
              <a:srgbClr val="162A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31920" y="3794760"/>
            <a:ext cx="64008" cy="42062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383133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07  界面美观与易用性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31920" y="4343400"/>
            <a:ext cx="4846320" cy="420624"/>
          </a:xfrm>
          <a:prstGeom prst="rect">
            <a:avLst/>
          </a:prstGeom>
          <a:solidFill>
            <a:srgbClr val="162A42">
              <a:alpha val="80000"/>
            </a:srgbClr>
          </a:solidFill>
          <a:ln w="12700">
            <a:solidFill>
              <a:srgbClr val="162A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0" y="4343400"/>
            <a:ext cx="64008" cy="42062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69080" y="437997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08  个人画像 &amp; 班级画像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46634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大数据特色课程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01  完整场景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一个完整的教学场景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BB8"/>
                </a:solidFill>
              </a:rPr>
              <a:t>从学生入学到拿到竞赛评分的全链路体验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56048"/>
            <a:ext cx="8503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VentureAI  ·  完整场景演示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1554480" cy="192024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63040"/>
            <a:ext cx="1554480" cy="9144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00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86FF"/>
                </a:solidFill>
              </a:rPr>
              <a:t>①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432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登录系统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8"/>
                </a:solidFill>
              </a:rPr>
              <a:t>学生/教师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BB8"/>
                </a:solidFill>
              </a:rPr>
              <a:t>双端入口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37944" y="2377440"/>
            <a:ext cx="155448" cy="3657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3392" y="1463040"/>
            <a:ext cx="1554480" cy="192024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93392" y="1463040"/>
            <a:ext cx="1554480" cy="914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1600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5EA7"/>
                </a:solidFill>
              </a:rPr>
              <a:t>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93392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创建项目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93392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8"/>
                </a:solidFill>
              </a:rPr>
              <a:t>填写创业想法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BB8"/>
                </a:solidFill>
              </a:rPr>
              <a:t>选择行业领域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57016" y="2377440"/>
            <a:ext cx="155448" cy="3657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12464" y="1463040"/>
            <a:ext cx="1554480" cy="192024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12464" y="1463040"/>
            <a:ext cx="1554480" cy="91440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9664" y="1600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A0"/>
                </a:solidFill>
              </a:rPr>
              <a:t>③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712464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AI教练对话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12464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8"/>
                </a:solidFill>
              </a:rPr>
              <a:t>苏格拉底式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BB8"/>
                </a:solidFill>
              </a:rPr>
              <a:t>三轮诊断法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76088" y="2377440"/>
            <a:ext cx="155448" cy="3657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31536" y="1463040"/>
            <a:ext cx="1554480" cy="192024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31536" y="1463040"/>
            <a:ext cx="1554480" cy="91440"/>
          </a:xfrm>
          <a:prstGeom prst="rect">
            <a:avLst/>
          </a:prstGeom>
          <a:solidFill>
            <a:srgbClr val="FF9E3D"/>
          </a:solidFill>
          <a:ln w="12700">
            <a:solidFill>
              <a:srgbClr val="FF9E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88736" y="1600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E3D"/>
                </a:solidFill>
              </a:rPr>
              <a:t>④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431536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实时评分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31536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8"/>
                </a:solidFill>
              </a:rPr>
              <a:t>五维雷达图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BB8"/>
                </a:solidFill>
              </a:rPr>
              <a:t>隐性评分解析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95160" y="2377440"/>
            <a:ext cx="155448" cy="3657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50608" y="1463040"/>
            <a:ext cx="1554480" cy="192024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50608" y="1463040"/>
            <a:ext cx="1554480" cy="91440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07808" y="1600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C5C"/>
                </a:solidFill>
              </a:rPr>
              <a:t>⑤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150608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竞赛顾问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50608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8"/>
                </a:solidFill>
              </a:rPr>
              <a:t>9项Rubric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BB8"/>
                </a:solidFill>
              </a:rPr>
              <a:t>修复建议输出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520440"/>
            <a:ext cx="8595360" cy="64008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数据流：学生对话 → AI隐性评分（JSON嵌入）→ 后端解析 → 雷达图更新 → 汇总至教师Mission Control看板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4251960"/>
            <a:ext cx="4114800" cy="347472"/>
          </a:xfrm>
          <a:prstGeom prst="rect">
            <a:avLst/>
          </a:prstGeom>
          <a:solidFill>
            <a:srgbClr val="3A86FF">
              <a:alpha val="30000"/>
            </a:srgbClr>
          </a:solidFill>
          <a:ln w="12700">
            <a:solidFill>
              <a:srgbClr val="3A86FF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251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86FF"/>
                </a:solidFill>
              </a:rPr>
              <a:t>学生端  ·  Coach / Tutor / Competition / Project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4251960"/>
            <a:ext cx="4114800" cy="347472"/>
          </a:xfrm>
          <a:prstGeom prst="rect">
            <a:avLst/>
          </a:prstGeom>
          <a:solidFill>
            <a:srgbClr val="00C8A0">
              <a:alpha val="30000"/>
            </a:srgbClr>
          </a:solidFill>
          <a:ln w="12700">
            <a:solidFill>
              <a:srgbClr val="00C8A0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251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A0"/>
                </a:solidFill>
              </a:rPr>
              <a:t>教师端  ·  Mission Control / Rubric 审阅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02  Prompt 体系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系统全量 Prompt 架构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BB8"/>
                </a:solidFill>
              </a:rPr>
              <a:t>四类 Agent 各司其职，约束清晰、风格分明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56048"/>
            <a:ext cx="8503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VentureAI  ·  Prompt 体系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1993392" cy="283464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1993392" cy="73152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3619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A0"/>
                </a:solidFill>
              </a:rPr>
              <a:t>Coach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8A0"/>
                </a:solidFill>
              </a:rPr>
              <a:t>项目教练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1627632" cy="27432"/>
          </a:xfrm>
          <a:prstGeom prst="rect">
            <a:avLst/>
          </a:prstGeom>
          <a:solidFill>
            <a:srgbClr val="00C8A0">
              <a:alpha val="50000"/>
            </a:srgbClr>
          </a:solidFill>
          <a:ln w="12700">
            <a:solidFill>
              <a:srgbClr val="00C8A0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042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苏格拉底式追问，不直接给答案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7614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三轮诊断：Discovery→Stress Test→Feasibility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结尾嵌入隐性评分 JSON 标记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675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VC视角·冷幽默·引导性强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50592" y="1417320"/>
            <a:ext cx="1993392" cy="283464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50592" y="1417320"/>
            <a:ext cx="1993392" cy="7315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153619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86FF"/>
                </a:solidFill>
              </a:rPr>
              <a:t>Tutor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A86FF"/>
                </a:solidFill>
              </a:rPr>
              <a:t>学习辅导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33472" y="2212848"/>
            <a:ext cx="1627632" cy="27432"/>
          </a:xfrm>
          <a:prstGeom prst="rect">
            <a:avLst/>
          </a:prstGeom>
          <a:solidFill>
            <a:srgbClr val="3A86FF">
              <a:alpha val="50000"/>
            </a:srgbClr>
          </a:solidFill>
          <a:ln w="12700">
            <a:solidFill>
              <a:srgbClr val="3A86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23042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6步标准回答：定义→案例→错误→任务→产出→评标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27614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耐心温和，用类比讲抽象概念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每次只聚焦一个概念讲透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60320" y="3675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覆盖 PMF/AARRR/Canvas 等 20+ 概念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26864" y="1417320"/>
            <a:ext cx="1993392" cy="283464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1417320"/>
            <a:ext cx="1993392" cy="73152"/>
          </a:xfrm>
          <a:prstGeom prst="rect">
            <a:avLst/>
          </a:prstGeom>
          <a:solidFill>
            <a:srgbClr val="FF9E3D"/>
          </a:solidFill>
          <a:ln w="12700">
            <a:solidFill>
              <a:srgbClr val="FF9E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153619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E3D"/>
                </a:solidFill>
              </a:rPr>
              <a:t>Competition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9E3D"/>
                </a:solidFill>
              </a:rPr>
              <a:t>竞赛顾问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9744" y="2212848"/>
            <a:ext cx="1627632" cy="27432"/>
          </a:xfrm>
          <a:prstGeom prst="rect">
            <a:avLst/>
          </a:prstGeom>
          <a:solidFill>
            <a:srgbClr val="FF9E3D">
              <a:alpha val="50000"/>
            </a:srgbClr>
          </a:solidFill>
          <a:ln w="12700">
            <a:solidFill>
              <a:srgbClr val="FF9E3D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23042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对标互联网+/挑战杯等赛事评委视角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36592" y="27614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9项Rubric逐项打分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36592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输出缺失证据清单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36592" y="3675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24h/72h 分级修复方案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03136" y="1417320"/>
            <a:ext cx="1993392" cy="283464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03136" y="1417320"/>
            <a:ext cx="1993392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03136" y="153619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EA7"/>
                </a:solidFill>
              </a:rPr>
              <a:t>Teacher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B5EA7"/>
                </a:solidFill>
              </a:rPr>
              <a:t>教师智能体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86016" y="2212848"/>
            <a:ext cx="1627632" cy="27432"/>
          </a:xfrm>
          <a:prstGeom prst="rect">
            <a:avLst/>
          </a:prstGeom>
          <a:solidFill>
            <a:srgbClr val="7B5EA7">
              <a:alpha val="50000"/>
            </a:srgbClr>
          </a:solidFill>
          <a:ln w="12700">
            <a:solidFill>
              <a:srgbClr val="7B5EA7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12864" y="23042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汇总全班对话生成教学建议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12864" y="27614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识别班级共性错误Top 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12864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高风险项目自动预警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12864" y="3675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生成干预建议可直接在课堂执行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370832"/>
            <a:ext cx="8595360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8"/>
                </a:solidFill>
              </a:rPr>
              <a:t>硬性约束：严禁代写商业计划书  ·  每次回复只聚焦1-2个核心问题  ·  引用2025-2026行业趋势背景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03  知识图谱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知识图谱 Schema &amp; 评估机制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BB8"/>
                </a:solidFill>
              </a:rPr>
              <a:t>结构化创业知识，支撑 AI 推理与证据追溯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56048"/>
            <a:ext cx="8503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VentureAI  ·  知识图谱 &amp; 评估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3200400" cy="310896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4813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A7"/>
                </a:solidFill>
              </a:rPr>
              <a:t>节点类型  (6 种)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777240" cy="274320"/>
          </a:xfrm>
          <a:prstGeom prst="rect">
            <a:avLst/>
          </a:prstGeom>
          <a:solidFill>
            <a:srgbClr val="00C8A0">
              <a:alpha val="80000"/>
            </a:srgbClr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74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A0"/>
                </a:solidFill>
              </a:rPr>
              <a:t>Concept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07008" y="18928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PMF / TAM / Moat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777240" cy="274320"/>
          </a:xfrm>
          <a:prstGeom prst="rect">
            <a:avLst/>
          </a:prstGeom>
          <a:solidFill>
            <a:srgbClr val="3A86FF">
              <a:alpha val="80000"/>
            </a:srgbClr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042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86FF"/>
                </a:solidFill>
              </a:rPr>
              <a:t>Method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07008" y="23225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Lean Canvas / AARRR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734056"/>
            <a:ext cx="777240" cy="274320"/>
          </a:xfrm>
          <a:prstGeom prst="rect">
            <a:avLst/>
          </a:prstGeom>
          <a:solidFill>
            <a:srgbClr val="FF9E3D">
              <a:alpha val="80000"/>
            </a:srgbClr>
          </a:solidFill>
          <a:ln w="12700">
            <a:solidFill>
              <a:srgbClr val="FF9E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340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E3D"/>
                </a:solidFill>
              </a:rPr>
              <a:t>Task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07008" y="27523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用户访谈 / MVP设计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163824"/>
            <a:ext cx="777240" cy="274320"/>
          </a:xfrm>
          <a:prstGeom prst="rect">
            <a:avLst/>
          </a:prstGeom>
          <a:solidFill>
            <a:srgbClr val="7B5EA7">
              <a:alpha val="80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638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5EA7"/>
                </a:solidFill>
              </a:rPr>
              <a:t>Artifact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07008" y="31821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商业计划书 / 路演PPT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593592"/>
            <a:ext cx="777240" cy="274320"/>
          </a:xfrm>
          <a:prstGeom prst="rect">
            <a:avLst/>
          </a:prstGeom>
          <a:solidFill>
            <a:srgbClr val="F5C518">
              <a:alpha val="80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593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</a:rPr>
              <a:t>Metric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07008" y="36118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CAC / LTV / 转化率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023360"/>
            <a:ext cx="777240" cy="274320"/>
          </a:xfrm>
          <a:prstGeom prst="rect">
            <a:avLst/>
          </a:prstGeom>
          <a:solidFill>
            <a:srgbClr val="FF5C5C">
              <a:alpha val="80000"/>
            </a:srgbClr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233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5C"/>
                </a:solidFill>
              </a:rPr>
              <a:t>Case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07008" y="40416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获奖项目 / 失败案例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03320" y="1417320"/>
            <a:ext cx="2560320" cy="310896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794760" y="14813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86FF"/>
                </a:solidFill>
              </a:rPr>
              <a:t>关系类型  (7 种)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22192" y="19019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→  PREREQ       前置依赖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22192" y="22860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→  USES            使用方法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22192" y="267004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→  PRODUCES   产出关系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22192" y="30540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→  MEASURED_BY  度量关系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22192" y="34381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→  EVIDENCED_BY  证据支撑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22192" y="382219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→  COMMON_MISTAKE  常见错误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22192" y="42062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→  FIX_STRATEGY    修复策略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46520" y="1417320"/>
            <a:ext cx="2423160" cy="310896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537960" y="14813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A0"/>
                </a:solidFill>
              </a:rPr>
              <a:t>评估作用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1901952"/>
            <a:ext cx="64008" cy="347472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0256" y="19019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A0"/>
                </a:solidFill>
              </a:rPr>
              <a:t>知识组织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20256" y="207568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PMF、AARRR等双创核心概念结构化入库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92240" y="2450592"/>
            <a:ext cx="64008" cy="34747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0256" y="24505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6FF"/>
                </a:solidFill>
              </a:rPr>
              <a:t>前置推理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620256" y="26243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PREREQ链保证教学顺序合理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92240" y="2999232"/>
            <a:ext cx="64008" cy="347472"/>
          </a:xfrm>
          <a:prstGeom prst="rect">
            <a:avLst/>
          </a:prstGeom>
          <a:solidFill>
            <a:srgbClr val="FF9E3D"/>
          </a:solidFill>
          <a:ln w="12700">
            <a:solidFill>
              <a:srgbClr val="FF9E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0256" y="29992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E3D"/>
                </a:solidFill>
              </a:rPr>
              <a:t>证据追溯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620256" y="317296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EVIDENCED_BY确保每条评分有来源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492240" y="3547872"/>
            <a:ext cx="64008" cy="347472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20256" y="35478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C5C"/>
                </a:solidFill>
              </a:rPr>
              <a:t>错误诊断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620256" y="37216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COMMON_MISTAKE自动匹配已知陷阱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492240" y="4096512"/>
            <a:ext cx="64008" cy="34747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20256" y="40965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5EA7"/>
                </a:solidFill>
              </a:rPr>
              <a:t>可复用性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620256" y="42702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历届案例结构化入库，支持迁移推理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FF9E3D"/>
          </a:solidFill>
          <a:ln w="12700">
            <a:solidFill>
              <a:srgbClr val="FF9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04  超图约束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条超图约束规则 &amp; 评估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BB8"/>
                </a:solidFill>
              </a:rPr>
              <a:t>自动检测逻辑不一致，给出分级修复任务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56048"/>
            <a:ext cx="8503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VentureAI  ·  超图 &amp; 评估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640080" cy="256032"/>
          </a:xfrm>
          <a:prstGeom prst="rect">
            <a:avLst/>
          </a:prstGeom>
          <a:solidFill>
            <a:srgbClr val="FF5C5C">
              <a:alpha val="70000"/>
            </a:srgbClr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17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C5C"/>
                </a:solidFill>
              </a:rPr>
              <a:t>高危  ×6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755648"/>
            <a:ext cx="4114800" cy="402336"/>
          </a:xfrm>
          <a:prstGeom prst="rect">
            <a:avLst/>
          </a:prstGeom>
          <a:solidFill>
            <a:srgbClr val="162A42"/>
          </a:solidFill>
          <a:ln w="12700">
            <a:solidFill>
              <a:srgbClr val="FF5C5C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9222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C5C"/>
                </a:solidFill>
              </a:rPr>
              <a:t>H1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" y="1828800"/>
            <a:ext cx="27432" cy="256032"/>
          </a:xfrm>
          <a:prstGeom prst="rect">
            <a:avLst/>
          </a:prstGeom>
          <a:solidFill>
            <a:srgbClr val="FF5C5C">
              <a:alpha val="60000"/>
            </a:srgbClr>
          </a:solidFill>
          <a:ln w="12700">
            <a:solidFill>
              <a:srgbClr val="FF5C5C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17739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DF2"/>
                </a:solidFill>
              </a:rPr>
              <a:t>客户–价值主张错位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19568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客户群体与价值主张不匹配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249424"/>
            <a:ext cx="4114800" cy="402336"/>
          </a:xfrm>
          <a:prstGeom prst="rect">
            <a:avLst/>
          </a:prstGeom>
          <a:solidFill>
            <a:srgbClr val="162A42"/>
          </a:solidFill>
          <a:ln w="12700">
            <a:solidFill>
              <a:srgbClr val="FF5C5C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860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C5C"/>
                </a:solidFill>
              </a:rPr>
              <a:t>H2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3232" y="2322576"/>
            <a:ext cx="27432" cy="256032"/>
          </a:xfrm>
          <a:prstGeom prst="rect">
            <a:avLst/>
          </a:prstGeom>
          <a:solidFill>
            <a:srgbClr val="FF5C5C">
              <a:alpha val="60000"/>
            </a:srgbClr>
          </a:solidFill>
          <a:ln w="12700">
            <a:solidFill>
              <a:srgbClr val="FF5C5C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267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DF2"/>
                </a:solidFill>
              </a:rPr>
              <a:t>渠道不可达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04672" y="2450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选定渠道无法触达目标客户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743200"/>
            <a:ext cx="4114800" cy="402336"/>
          </a:xfrm>
          <a:prstGeom prst="rect">
            <a:avLst/>
          </a:prstGeom>
          <a:solidFill>
            <a:srgbClr val="162A42"/>
          </a:solidFill>
          <a:ln w="12700">
            <a:solidFill>
              <a:srgbClr val="FF5C5C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77977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C5C"/>
                </a:solidFill>
              </a:rPr>
              <a:t>H5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" y="2816352"/>
            <a:ext cx="27432" cy="256032"/>
          </a:xfrm>
          <a:prstGeom prst="rect">
            <a:avLst/>
          </a:prstGeom>
          <a:solidFill>
            <a:srgbClr val="FF5C5C">
              <a:alpha val="60000"/>
            </a:srgbClr>
          </a:solidFill>
          <a:ln w="12700">
            <a:solidFill>
              <a:srgbClr val="FF5C5C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27614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DF2"/>
                </a:solidFill>
              </a:rPr>
              <a:t>需求证据不足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" y="29443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用户痛点缺乏一手数据支撑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236976"/>
            <a:ext cx="4114800" cy="402336"/>
          </a:xfrm>
          <a:prstGeom prst="rect">
            <a:avLst/>
          </a:prstGeom>
          <a:solidFill>
            <a:srgbClr val="162A42"/>
          </a:solidFill>
          <a:ln w="12700">
            <a:solidFill>
              <a:srgbClr val="FF5C5C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27355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C5C"/>
                </a:solidFill>
              </a:rPr>
              <a:t>H8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3232" y="3310128"/>
            <a:ext cx="27432" cy="256032"/>
          </a:xfrm>
          <a:prstGeom prst="rect">
            <a:avLst/>
          </a:prstGeom>
          <a:solidFill>
            <a:srgbClr val="FF5C5C">
              <a:alpha val="60000"/>
            </a:srgbClr>
          </a:solidFill>
          <a:ln w="12700">
            <a:solidFill>
              <a:srgbClr val="FF5C5C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2552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DF2"/>
                </a:solidFill>
              </a:rPr>
              <a:t>单位经济不成立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4672" y="34381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LTV &lt; CAC 或假设不合理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3730752"/>
            <a:ext cx="4114800" cy="402336"/>
          </a:xfrm>
          <a:prstGeom prst="rect">
            <a:avLst/>
          </a:prstGeom>
          <a:solidFill>
            <a:srgbClr val="162A42"/>
          </a:solidFill>
          <a:ln w="12700">
            <a:solidFill>
              <a:srgbClr val="FF5C5C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76732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C5C"/>
                </a:solidFill>
              </a:rPr>
              <a:t>H11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3232" y="3803904"/>
            <a:ext cx="27432" cy="256032"/>
          </a:xfrm>
          <a:prstGeom prst="rect">
            <a:avLst/>
          </a:prstGeom>
          <a:solidFill>
            <a:srgbClr val="FF5C5C">
              <a:alpha val="60000"/>
            </a:srgbClr>
          </a:solidFill>
          <a:ln w="12700">
            <a:solidFill>
              <a:srgbClr val="FF5C5C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3749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DF2"/>
                </a:solidFill>
              </a:rPr>
              <a:t>合规/伦理缺口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4672" y="3931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数据隐私/行业准入等合规风险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4224528"/>
            <a:ext cx="4114800" cy="402336"/>
          </a:xfrm>
          <a:prstGeom prst="rect">
            <a:avLst/>
          </a:prstGeom>
          <a:solidFill>
            <a:srgbClr val="162A42"/>
          </a:solidFill>
          <a:ln w="12700">
            <a:solidFill>
              <a:srgbClr val="FF5C5C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26110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C5C"/>
                </a:solidFill>
              </a:rPr>
              <a:t>H12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3232" y="4297680"/>
            <a:ext cx="27432" cy="256032"/>
          </a:xfrm>
          <a:prstGeom prst="rect">
            <a:avLst/>
          </a:prstGeom>
          <a:solidFill>
            <a:srgbClr val="FF5C5C">
              <a:alpha val="60000"/>
            </a:srgbClr>
          </a:solidFill>
          <a:ln w="12700">
            <a:solidFill>
              <a:srgbClr val="FF5C5C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42428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DF2"/>
                </a:solidFill>
              </a:rPr>
              <a:t>技术路线与资源不匹配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04672" y="44256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技术方案超出团队能力和资源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0" y="1417320"/>
            <a:ext cx="685800" cy="256032"/>
          </a:xfrm>
          <a:prstGeom prst="rect">
            <a:avLst/>
          </a:prstGeom>
          <a:solidFill>
            <a:srgbClr val="FF9E3D">
              <a:alpha val="70000"/>
            </a:srgbClr>
          </a:solidFill>
          <a:ln w="12700">
            <a:solidFill>
              <a:srgbClr val="FF9E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14173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E3D"/>
                </a:solidFill>
              </a:rPr>
              <a:t>中等  ×8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0" y="1755648"/>
            <a:ext cx="2103120" cy="640080"/>
          </a:xfrm>
          <a:prstGeom prst="rect">
            <a:avLst/>
          </a:prstGeom>
          <a:solidFill>
            <a:srgbClr val="162A42"/>
          </a:solidFill>
          <a:ln w="12700">
            <a:solidFill>
              <a:srgbClr val="FF9E3D">
                <a:alpha val="3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36008" y="179222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E3D"/>
                </a:solidFill>
              </a:rPr>
              <a:t>H3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636008" y="20299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2"/>
                </a:solidFill>
              </a:rPr>
              <a:t>定价无支付意愿证据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36008" y="219456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BB8"/>
                </a:solidFill>
              </a:rPr>
              <a:t>缺乏支付意愿验证数据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2496312"/>
            <a:ext cx="2103120" cy="640080"/>
          </a:xfrm>
          <a:prstGeom prst="rect">
            <a:avLst/>
          </a:prstGeom>
          <a:solidFill>
            <a:srgbClr val="162A42"/>
          </a:solidFill>
          <a:ln w="12700">
            <a:solidFill>
              <a:srgbClr val="FF9E3D">
                <a:alpha val="3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36008" y="25328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E3D"/>
                </a:solidFill>
              </a:rPr>
              <a:t>H4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636008" y="27706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2"/>
                </a:solidFill>
              </a:rPr>
              <a:t>TAM/SAM/SOM 口径混乱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36008" y="293522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BB8"/>
                </a:solidFill>
              </a:rPr>
              <a:t>市场规模计算逻辑不一致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572000" y="3236976"/>
            <a:ext cx="2103120" cy="640080"/>
          </a:xfrm>
          <a:prstGeom prst="rect">
            <a:avLst/>
          </a:prstGeom>
          <a:solidFill>
            <a:srgbClr val="162A42"/>
          </a:solidFill>
          <a:ln w="12700">
            <a:solidFill>
              <a:srgbClr val="FF9E3D">
                <a:alpha val="3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36008" y="327355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E3D"/>
                </a:solidFill>
              </a:rPr>
              <a:t>H6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636008" y="35112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2"/>
                </a:solidFill>
              </a:rPr>
              <a:t>竞品对比不可比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36008" y="367588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BB8"/>
                </a:solidFill>
              </a:rPr>
              <a:t>竞品维度不对等或遗漏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572000" y="3977640"/>
            <a:ext cx="2103120" cy="640080"/>
          </a:xfrm>
          <a:prstGeom prst="rect">
            <a:avLst/>
          </a:prstGeom>
          <a:solidFill>
            <a:srgbClr val="162A42"/>
          </a:solidFill>
          <a:ln w="12700">
            <a:solidFill>
              <a:srgbClr val="FF9E3D">
                <a:alpha val="3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36008" y="4014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E3D"/>
                </a:solidFill>
              </a:rPr>
              <a:t>H7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636008" y="42519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2"/>
                </a:solidFill>
              </a:rPr>
              <a:t>创新点不可验证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636008" y="44165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BB8"/>
                </a:solidFill>
              </a:rPr>
              <a:t>创新点缺乏数据或实验支撑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812280" y="1755648"/>
            <a:ext cx="2103120" cy="640080"/>
          </a:xfrm>
          <a:prstGeom prst="rect">
            <a:avLst/>
          </a:prstGeom>
          <a:solidFill>
            <a:srgbClr val="162A42"/>
          </a:solidFill>
          <a:ln w="12700">
            <a:solidFill>
              <a:srgbClr val="FF9E3D">
                <a:alpha val="3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76288" y="179222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E3D"/>
                </a:solidFill>
              </a:rPr>
              <a:t>H9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876288" y="20299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2"/>
                </a:solidFill>
              </a:rPr>
              <a:t>增长逻辑跳跃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876288" y="219456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BB8"/>
                </a:solidFill>
              </a:rPr>
              <a:t>用户增长策略缺阶段逻辑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812280" y="2496312"/>
            <a:ext cx="2103120" cy="640080"/>
          </a:xfrm>
          <a:prstGeom prst="rect">
            <a:avLst/>
          </a:prstGeom>
          <a:solidFill>
            <a:srgbClr val="162A42"/>
          </a:solidFill>
          <a:ln w="12700">
            <a:solidFill>
              <a:srgbClr val="FF9E3D">
                <a:alpha val="3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76288" y="25328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E3D"/>
                </a:solidFill>
              </a:rPr>
              <a:t>H10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876288" y="27706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2"/>
                </a:solidFill>
              </a:rPr>
              <a:t>里程碑不可交付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876288" y="293522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BB8"/>
                </a:solidFill>
              </a:rPr>
              <a:t>里程碑过于模糊不可量化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812280" y="3236976"/>
            <a:ext cx="2103120" cy="640080"/>
          </a:xfrm>
          <a:prstGeom prst="rect">
            <a:avLst/>
          </a:prstGeom>
          <a:solidFill>
            <a:srgbClr val="162A42"/>
          </a:solidFill>
          <a:ln w="12700">
            <a:solidFill>
              <a:srgbClr val="FF9E3D">
                <a:alpha val="3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76288" y="327355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E3D"/>
                </a:solidFill>
              </a:rPr>
              <a:t>H13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76288" y="35112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2"/>
                </a:solidFill>
              </a:rPr>
              <a:t>实验设计不合格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876288" y="367588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BB8"/>
                </a:solidFill>
              </a:rPr>
              <a:t>缺乏对照组或样本量不足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812280" y="3977640"/>
            <a:ext cx="2103120" cy="640080"/>
          </a:xfrm>
          <a:prstGeom prst="rect">
            <a:avLst/>
          </a:prstGeom>
          <a:solidFill>
            <a:srgbClr val="162A42"/>
          </a:solidFill>
          <a:ln w="12700">
            <a:solidFill>
              <a:srgbClr val="FF9E3D">
                <a:alpha val="3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876288" y="4014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E3D"/>
                </a:solidFill>
              </a:rPr>
              <a:t>H15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876288" y="42519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2"/>
                </a:solidFill>
              </a:rPr>
              <a:t>评分证据覆盖不足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876288" y="44165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BB8"/>
                </a:solidFill>
              </a:rPr>
              <a:t>多个评分维度缺乏支撑证据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572000" y="4645152"/>
            <a:ext cx="4343400" cy="256032"/>
          </a:xfrm>
          <a:prstGeom prst="rect">
            <a:avLst/>
          </a:prstGeom>
          <a:solidFill>
            <a:srgbClr val="1A3050"/>
          </a:solidFill>
          <a:ln w="12700">
            <a:solidFill>
              <a:srgbClr val="7A9BB8">
                <a:alpha val="4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63440" y="46451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8"/>
                </a:solidFill>
              </a:rPr>
              <a:t>H14（低）路演叙事断裂  ·  路演材料故事线不连贯  →  按 问题→方案→市场→模式→团队 重构叙事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05  引用正确性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知识图谱与超图的引用正确性验证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BB8"/>
                </a:solidFill>
              </a:rPr>
              <a:t>每条评分有证据链，评价不是 AI 拍脑袋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56048"/>
            <a:ext cx="8503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VentureAI  ·  引用正确性验证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5303520" cy="96012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73152" cy="96012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4721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86FF"/>
                </a:solidFill>
              </a:rPr>
              <a:t>① 评分触发阶段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74650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AI Coach / Competition Agent 输出对话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19568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结尾嵌入 &lt;!--SCORES:{...}--&gt; 隐性标记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1671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后端正则提取 → 解析 JSON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2377440"/>
            <a:ext cx="27432" cy="10972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532888"/>
            <a:ext cx="5303520" cy="96012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32888"/>
            <a:ext cx="73152" cy="960120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87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A0"/>
                </a:solidFill>
              </a:rPr>
              <a:t>② 知识图谱查询阶段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28620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根据评分维度检索对应 Concept/Task 节点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3072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验证 PREREQ 链：前置任务是否已完成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" y="32826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触发 COMMON_MISTAKE 自动匹配已知错误模式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" y="3493008"/>
            <a:ext cx="27432" cy="10972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648456"/>
            <a:ext cx="5303520" cy="96012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648456"/>
            <a:ext cx="73152" cy="960120"/>
          </a:xfrm>
          <a:prstGeom prst="rect">
            <a:avLst/>
          </a:prstGeom>
          <a:solidFill>
            <a:srgbClr val="FF9E3D"/>
          </a:solidFill>
          <a:ln w="12700">
            <a:solidFill>
              <a:srgbClr val="FF9E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703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E3D"/>
                </a:solidFill>
              </a:rPr>
              <a:t>③ 超图规则检验阶段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39776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逐条扫描 H1–H15 约束规则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" y="4187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触发规则记录 Evidence Trace（引用来源）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" y="43982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▸  证据不足时标注 ⚠️ 不得凭感觉给高分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52160" y="1417320"/>
            <a:ext cx="3017520" cy="338328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0" y="1481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518"/>
                </a:solidFill>
              </a:rPr>
              <a:t>Evidence Trace 示例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0" y="1783080"/>
            <a:ext cx="2834640" cy="27432"/>
          </a:xfrm>
          <a:prstGeom prst="rect">
            <a:avLst/>
          </a:prstGeom>
          <a:solidFill>
            <a:srgbClr val="F5C518">
              <a:alpha val="40000"/>
            </a:srgbClr>
          </a:solidFill>
          <a:ln w="12700">
            <a:solidFill>
              <a:srgbClr val="F5C518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1892808"/>
            <a:ext cx="283464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192938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C518"/>
                </a:solidFill>
              </a:rPr>
              <a:t>R1 痛点定义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223760" y="19293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项目描述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16752" y="21396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EDF2"/>
                </a:solidFill>
              </a:rPr>
              <a:t>"针对大学生的二手课本需求"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943600" y="2468880"/>
            <a:ext cx="283464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16752" y="2505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C518"/>
                </a:solidFill>
              </a:rPr>
              <a:t>R2 用户证据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223760" y="25054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⚠️ 缺失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16752" y="27157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EDF2"/>
                </a:solidFill>
              </a:rPr>
              <a:t>"无用户访谈记录 → 3/10"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43600" y="3044952"/>
            <a:ext cx="283464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16752" y="30815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C518"/>
                </a:solidFill>
              </a:rPr>
              <a:t>R3 方案可行性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223760" y="30815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方案说明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16752" y="3291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EDF2"/>
                </a:solidFill>
              </a:rPr>
              <a:t>"基于AI的推荐算法匹配买卖双方"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943600" y="3621024"/>
            <a:ext cx="283464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16752" y="3657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C518"/>
                </a:solidFill>
              </a:rPr>
              <a:t>H8 单位经济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223760" y="36576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财务数据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016752" y="38679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EDF2"/>
                </a:solidFill>
              </a:rPr>
              <a:t>"LTV=$12 &lt; CAC=$18 → 触发规则"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943600" y="4197096"/>
            <a:ext cx="283464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16752" y="4233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C518"/>
                </a:solidFill>
              </a:rPr>
              <a:t>R5 市场竞争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223760" y="42336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市场分析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016752" y="44439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EDF2"/>
                </a:solidFill>
              </a:rPr>
              <a:t>"TAM来源不明 → 触发H4"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4617720"/>
            <a:ext cx="8595360" cy="2560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8"/>
                </a:solidFill>
              </a:rPr>
              <a:t>原则：证据不足时明确标注  ·  不说[还不错]  ·  每条批评都伴随具体修复建议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06  用户·角色·权限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用户、角色与权限管理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BB8"/>
                </a:solidFill>
              </a:rPr>
              <a:t>双端架构，职能清晰，入口隔离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56048"/>
            <a:ext cx="8503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VentureAI  ·  用户·角色·权限管理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60520" cy="329184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160520" cy="502920"/>
          </a:xfrm>
          <a:prstGeom prst="rect">
            <a:avLst/>
          </a:prstGeom>
          <a:solidFill>
            <a:srgbClr val="3A86FF">
              <a:alpha val="80000"/>
            </a:srgbClr>
          </a:solidFill>
          <a:ln w="12700">
            <a:solidFill>
              <a:srgbClr val="3A86FF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813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86FF"/>
                </a:solidFill>
              </a:rPr>
              <a:t>学生角色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1536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9BB8"/>
                </a:solidFill>
              </a:rPr>
              <a:t>Student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1993392"/>
            <a:ext cx="54864" cy="20116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993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登录入口：学生端独立入口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2322576"/>
            <a:ext cx="54864" cy="20116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22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AI 项目教练（Coach Agent）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" y="2651760"/>
            <a:ext cx="54864" cy="20116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学习辅导（Tutor Agent）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" y="2980944"/>
            <a:ext cx="54864" cy="20116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980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竞赛顾问（Competition Agent）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912" y="3310128"/>
            <a:ext cx="54864" cy="20116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个人项目管理（4个阶段追踪）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8912" y="3639312"/>
            <a:ext cx="54864" cy="20116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39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查看自己的五维评分雷达图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3968496"/>
            <a:ext cx="54864" cy="20116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9684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诊断问题列表（自查修复）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4187952"/>
            <a:ext cx="3886200" cy="54864"/>
          </a:xfrm>
          <a:prstGeom prst="rect">
            <a:avLst/>
          </a:prstGeom>
          <a:solidFill>
            <a:srgbClr val="3A86FF">
              <a:alpha val="40000"/>
            </a:srgbClr>
          </a:solidFill>
          <a:ln w="12700">
            <a:solidFill>
              <a:srgbClr val="3A86FF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2793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5C5C"/>
                </a:solidFill>
              </a:rPr>
              <a:t>❌ 不可见其他学生评分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38912" y="44805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❌ 不可访问班级控制面板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38912" y="46817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❌ 不可修改评分数据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1417320"/>
            <a:ext cx="4160520" cy="329184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417320"/>
            <a:ext cx="4160520" cy="502920"/>
          </a:xfrm>
          <a:prstGeom prst="rect">
            <a:avLst/>
          </a:prstGeom>
          <a:solidFill>
            <a:srgbClr val="00C8A0">
              <a:alpha val="80000"/>
            </a:srgbClr>
          </a:solidFill>
          <a:ln w="12700">
            <a:solidFill>
              <a:srgbClr val="00C8A0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4813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A0"/>
                </a:solidFill>
              </a:rPr>
              <a:t>教师角色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23760" y="1536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9BB8"/>
                </a:solidFill>
              </a:rPr>
              <a:t>Teacher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28032" y="1993392"/>
            <a:ext cx="54864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1993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登录入口：教师端独立入口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28032" y="2322576"/>
            <a:ext cx="54864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2322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Mission Control 全班控制面板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28032" y="2651760"/>
            <a:ext cx="54864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班级整体雷达图 &amp; 共性错误Top5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28032" y="2980944"/>
            <a:ext cx="54864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2980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高风险项目预警（实时）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28032" y="3310128"/>
            <a:ext cx="54864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Rubric 精细化项目审阅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28032" y="3639312"/>
            <a:ext cx="54864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56048" y="3639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证据链追溯（Evidence Trace）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28032" y="3968496"/>
            <a:ext cx="54864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56048" y="39684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AI 自动生成教学干预建议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0600" y="4187952"/>
            <a:ext cx="3886200" cy="54864"/>
          </a:xfrm>
          <a:prstGeom prst="rect">
            <a:avLst/>
          </a:prstGeom>
          <a:solidFill>
            <a:srgbClr val="00C8A0">
              <a:alpha val="40000"/>
            </a:srgbClr>
          </a:solidFill>
          <a:ln w="12700">
            <a:solidFill>
              <a:srgbClr val="00C8A0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42793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✅ 可查看所有学生项目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28032" y="44805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✅ 查看对话评分数据汇总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28032" y="46817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✅ 获取AI生成的课程优化建议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认证接口：POST /api/auth/login  ·  角色区分后跳转对应端  ·  会话数据内存存储（可扩展 Redis / PostgreSQL）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07  界面设计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界面的美观性与易用性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BB8"/>
                </a:solidFill>
              </a:rPr>
              <a:t>Next.js 14 + Tailwind CSS · 响应式双端 Web 应用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56048"/>
            <a:ext cx="8503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VentureAI  ·  界面美观与易用性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4160520" cy="1572768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08760"/>
            <a:ext cx="4160520" cy="7315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8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38912" y="24048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86FF"/>
                </a:solidFill>
              </a:rPr>
              <a:t>独立端口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89888" y="1691640"/>
            <a:ext cx="36576" cy="1005840"/>
          </a:xfrm>
          <a:prstGeom prst="rect">
            <a:avLst/>
          </a:prstGeom>
          <a:solidFill>
            <a:srgbClr val="3A86FF">
              <a:alpha val="50000"/>
            </a:srgbClr>
          </a:solidFill>
          <a:ln w="12700">
            <a:solidFill>
              <a:srgbClr val="3A86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36192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86FF"/>
                </a:solidFill>
              </a:rPr>
              <a:t>双端分离架构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36192" y="202082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学生端与教师端完全独立界面，职能清晰互不干扰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4160520" cy="1572768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508760"/>
            <a:ext cx="4160520" cy="73152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828032" y="24048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A0"/>
                </a:solidFill>
              </a:rPr>
              <a:t>维度实时更新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79008" y="1691640"/>
            <a:ext cx="36576" cy="1005840"/>
          </a:xfrm>
          <a:prstGeom prst="rect">
            <a:avLst/>
          </a:prstGeom>
          <a:solidFill>
            <a:srgbClr val="00C8A0">
              <a:alpha val="50000"/>
            </a:srgbClr>
          </a:solidFill>
          <a:ln w="12700">
            <a:solidFill>
              <a:srgbClr val="00C8A0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25312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A0"/>
                </a:solidFill>
              </a:rPr>
              <a:t>实时五维雷达图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25312" y="202082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SVG 绘制雷达图，每次对话后自动刷新可视化评分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291840"/>
            <a:ext cx="4160520" cy="1572768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291840"/>
            <a:ext cx="4160520" cy="73152"/>
          </a:xfrm>
          <a:prstGeom prst="rect">
            <a:avLst/>
          </a:prstGeom>
          <a:solidFill>
            <a:srgbClr val="FF9E3D"/>
          </a:solidFill>
          <a:ln w="12700">
            <a:solidFill>
              <a:srgbClr val="FF9E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E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438912" y="4187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9E3D"/>
                </a:solidFill>
              </a:rPr>
              <a:t>色阶警示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389888" y="3474720"/>
            <a:ext cx="36576" cy="1005840"/>
          </a:xfrm>
          <a:prstGeom prst="rect">
            <a:avLst/>
          </a:prstGeom>
          <a:solidFill>
            <a:srgbClr val="FF9E3D">
              <a:alpha val="50000"/>
            </a:srgbClr>
          </a:solidFill>
          <a:ln w="12700">
            <a:solidFill>
              <a:srgbClr val="FF9E3D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36192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E3D"/>
                </a:solidFill>
              </a:rPr>
              <a:t>颜色编码系统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36192" y="380390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绿(≥7)·黄(5-6)·红(&lt;5) 直觉化评分状态呈现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291840"/>
            <a:ext cx="4160520" cy="1572768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291840"/>
            <a:ext cx="4160520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5E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4828032" y="4187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5EA7"/>
                </a:solidFill>
              </a:rPr>
              <a:t>Mission Control板块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779008" y="3474720"/>
            <a:ext cx="36576" cy="1005840"/>
          </a:xfrm>
          <a:prstGeom prst="rect">
            <a:avLst/>
          </a:prstGeom>
          <a:solidFill>
            <a:srgbClr val="7B5EA7">
              <a:alpha val="50000"/>
            </a:srgbClr>
          </a:solidFill>
          <a:ln w="12700">
            <a:solidFill>
              <a:srgbClr val="7B5EA7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25312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A7"/>
                </a:solidFill>
              </a:rPr>
              <a:t>一屏掌握全班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25312" y="380390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概览数字+雷达图+共性错误+预警+教学建议一页呈现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663440"/>
            <a:ext cx="1325880" cy="256032"/>
          </a:xfrm>
          <a:prstGeom prst="rect">
            <a:avLst/>
          </a:prstGeom>
          <a:solidFill>
            <a:srgbClr val="1A3050"/>
          </a:solidFill>
          <a:ln w="12700">
            <a:solidFill>
              <a:srgbClr val="00C8A0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6634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A0"/>
                </a:solidFill>
              </a:rPr>
              <a:t>Next.js 14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719072" y="4663440"/>
            <a:ext cx="1325880" cy="256032"/>
          </a:xfrm>
          <a:prstGeom prst="rect">
            <a:avLst/>
          </a:prstGeom>
          <a:solidFill>
            <a:srgbClr val="1A3050"/>
          </a:solidFill>
          <a:ln w="12700">
            <a:solidFill>
              <a:srgbClr val="00C8A0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19072" y="46634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A0"/>
                </a:solidFill>
              </a:rPr>
              <a:t>TypeScript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163824" y="4663440"/>
            <a:ext cx="1325880" cy="256032"/>
          </a:xfrm>
          <a:prstGeom prst="rect">
            <a:avLst/>
          </a:prstGeom>
          <a:solidFill>
            <a:srgbClr val="1A3050"/>
          </a:solidFill>
          <a:ln w="12700">
            <a:solidFill>
              <a:srgbClr val="00C8A0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63824" y="46634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A0"/>
                </a:solidFill>
              </a:rPr>
              <a:t>Tailwind CSS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08576" y="4663440"/>
            <a:ext cx="1325880" cy="256032"/>
          </a:xfrm>
          <a:prstGeom prst="rect">
            <a:avLst/>
          </a:prstGeom>
          <a:solidFill>
            <a:srgbClr val="1A3050"/>
          </a:solidFill>
          <a:ln w="12700">
            <a:solidFill>
              <a:srgbClr val="00C8A0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08576" y="46634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A0"/>
                </a:solidFill>
              </a:rPr>
              <a:t>SVG 雷达图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53328" y="4663440"/>
            <a:ext cx="1325880" cy="256032"/>
          </a:xfrm>
          <a:prstGeom prst="rect">
            <a:avLst/>
          </a:prstGeom>
          <a:solidFill>
            <a:srgbClr val="1A3050"/>
          </a:solidFill>
          <a:ln w="12700">
            <a:solidFill>
              <a:srgbClr val="00C8A0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53328" y="46634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A0"/>
                </a:solidFill>
              </a:rPr>
              <a:t>RESTful API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498080" y="4663440"/>
            <a:ext cx="1325880" cy="256032"/>
          </a:xfrm>
          <a:prstGeom prst="rect">
            <a:avLst/>
          </a:prstGeom>
          <a:solidFill>
            <a:srgbClr val="1A3050"/>
          </a:solidFill>
          <a:ln w="12700">
            <a:solidFill>
              <a:srgbClr val="00C8A0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0" y="46634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A0"/>
                </a:solidFill>
              </a:rPr>
              <a:t>响应式设计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08  画像系统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个人画像 &amp; 班级画像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BB8"/>
                </a:solidFill>
              </a:rPr>
              <a:t>从个体到群体，AI驱动的学情分析闭环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56048"/>
            <a:ext cx="8503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VentureAI  ·  个人画像 &amp; 班级画像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114800" cy="333756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411480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361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👤  个人画像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1965960"/>
            <a:ext cx="91440" cy="347472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751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A0"/>
                </a:solidFill>
              </a:rPr>
              <a:t>五维能力雷达图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167128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痛点发现·方案策划·商业建模·资源杠杆·路演表达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532888"/>
            <a:ext cx="91440" cy="34747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4203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86FF"/>
                </a:solidFill>
              </a:rPr>
              <a:t>项目阶段追踪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734056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Discovery→Ideation→Modeling→Execution→Pitching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3099816"/>
            <a:ext cx="91440" cy="347472"/>
          </a:xfrm>
          <a:prstGeom prst="rect">
            <a:avLst/>
          </a:prstGeom>
          <a:solidFill>
            <a:srgbClr val="FF9E3D"/>
          </a:solidFill>
          <a:ln w="12700">
            <a:solidFill>
              <a:srgbClr val="FF9E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0896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E3D"/>
                </a:solidFill>
              </a:rPr>
              <a:t>AI诊断问题列表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300984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实时更新待解决的逻辑漏洞与知识盲区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666744"/>
            <a:ext cx="91440" cy="34747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758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EA7"/>
                </a:solidFill>
              </a:rPr>
              <a:t>对话历史记录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867912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完整保存每次与 AI Agent 的对话内容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4233672"/>
            <a:ext cx="91440" cy="347472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428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C5C"/>
                </a:solidFill>
              </a:rPr>
              <a:t>竞赛 Rubric 评分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R1-R9 详细评分 + 证据链 + 修复建议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1417320"/>
            <a:ext cx="4114800" cy="333756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417320"/>
            <a:ext cx="4114800" cy="73152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15361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A0"/>
                </a:solidFill>
              </a:rPr>
              <a:t>📊  班级画像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64608" y="1965960"/>
            <a:ext cx="91440" cy="347472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19751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A0"/>
                </a:solidFill>
              </a:rPr>
              <a:t>学生总数 / 项目总数 / 高风险数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167128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三个核心指标大数字卡片，一屏概览班级动态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64608" y="2532888"/>
            <a:ext cx="91440" cy="34747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54203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86FF"/>
                </a:solidFill>
              </a:rPr>
              <a:t>班级平均五维雷达图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2734056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全班评分均值可视化，定位整体薄弱环节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64608" y="3099816"/>
            <a:ext cx="91440" cy="347472"/>
          </a:xfrm>
          <a:prstGeom prst="rect">
            <a:avLst/>
          </a:prstGeom>
          <a:solidFill>
            <a:srgbClr val="FF9E3D"/>
          </a:solidFill>
          <a:ln w="12700">
            <a:solidFill>
              <a:srgbClr val="FF9E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10896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E3D"/>
                </a:solidFill>
              </a:rPr>
              <a:t>Top 5 共性错误榜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3300984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自动统计频率，优先级标色（红&gt;黄&gt;灰）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64608" y="3666744"/>
            <a:ext cx="91440" cy="347472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36758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C5C"/>
                </a:solidFill>
              </a:rPr>
              <a:t>高风险项目预警列表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0" y="3867912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自动识别低分/逻辑缺陷项目，标注风险原因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64608" y="4233672"/>
            <a:ext cx="91440" cy="34747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42428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EA7"/>
                </a:solidFill>
              </a:rPr>
              <a:t>AI 教学干预建议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0" y="443484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8"/>
                </a:solidFill>
              </a:rPr>
              <a:t>基于班级数据自动生成，下一节课可直接落地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2"/>
                </a:solidFill>
              </a:rPr>
              <a:t>数据流：学生对话 → 个人评分更新 → 汇总至班级画像 → 教师获得全局洞察 → 生成干预建议反哺教学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VentureAI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创新创业教学智能体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BB8"/>
                </a:solidFill>
              </a:rPr>
              <a:t>八大核心能力，已就绪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20440" y="914400"/>
            <a:ext cx="2560320" cy="804672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20440" y="914400"/>
            <a:ext cx="73152" cy="80467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9509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8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完整场景演示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920240"/>
            <a:ext cx="2560320" cy="804672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920240"/>
            <a:ext cx="73152" cy="804672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9568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0" y="2359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全量 Prompt 体系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20440" y="2926080"/>
            <a:ext cx="2560320" cy="804672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20440" y="2926080"/>
            <a:ext cx="73152" cy="80467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9626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5E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0" y="3364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知识图谱 &amp; 评估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3931920"/>
            <a:ext cx="2560320" cy="804672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20440" y="3931920"/>
            <a:ext cx="73152" cy="804672"/>
          </a:xfrm>
          <a:prstGeom prst="rect">
            <a:avLst/>
          </a:prstGeom>
          <a:solidFill>
            <a:srgbClr val="FF9E3D"/>
          </a:solidFill>
          <a:ln w="12700">
            <a:solidFill>
              <a:srgbClr val="FF9E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9684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E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0" y="4370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超图约束 &amp; 评估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914400"/>
            <a:ext cx="2560320" cy="804672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914400"/>
            <a:ext cx="73152" cy="80467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9509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4652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引用正确性验证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1920240"/>
            <a:ext cx="2560320" cy="804672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1920240"/>
            <a:ext cx="73152" cy="804672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19568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C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46520" y="2359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用户·角色·权限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2926080"/>
            <a:ext cx="2560320" cy="804672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2926080"/>
            <a:ext cx="73152" cy="80467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29626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8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446520" y="3364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界面美观易用性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3931920"/>
            <a:ext cx="2560320" cy="804672"/>
          </a:xfrm>
          <a:prstGeom prst="rect">
            <a:avLst/>
          </a:prstGeom>
          <a:solidFill>
            <a:srgbClr val="162A42"/>
          </a:solidFill>
          <a:ln w="12700">
            <a:solidFill>
              <a:srgbClr val="16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3931920"/>
            <a:ext cx="73152" cy="804672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9684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446520" y="4370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个人·班级画像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8"/>
                </a:solidFill>
              </a:rPr>
              <a:t>基于知识图谱与超图的双创 AI 教育平台  ·  大数据特色课程  ·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VentureAI 创新创业教学智能体</dc:title>
  <dc:subject>PptxGenJS Presentation</dc:subject>
  <dc:creator>PptxGenJS</dc:creator>
  <cp:lastModifiedBy>PptxGenJS</cp:lastModifiedBy>
  <cp:revision>1</cp:revision>
  <dcterms:created xsi:type="dcterms:W3CDTF">2026-04-13T14:12:17Z</dcterms:created>
  <dcterms:modified xsi:type="dcterms:W3CDTF">2026-04-13T14:12:17Z</dcterms:modified>
</cp:coreProperties>
</file>